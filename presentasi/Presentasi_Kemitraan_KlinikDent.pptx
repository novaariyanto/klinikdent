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2" d="100"/>
          <a:sy n="82" d="100"/>
        </p:scale>
        <p:origin x="691"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2441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Bef>
                <a:spcPts val="0"/>
              </a:spcBef>
              <a:spcAft>
                <a:spcPts val="200"/>
              </a:spcAft>
            </a:pPr>
            <a:r>
              <a:rPr sz="1500" b="1">
                <a:solidFill>
                  <a:srgbClr val="0E7C86"/>
                </a:solidFill>
                <a:latin typeface="Calibri"/>
                <a:ea typeface="Calibri"/>
                <a:cs typeface="Calibri"/>
              </a:rPr>
              <a:t>TUJUAN</a:t>
            </a:r>
          </a:p>
          <a:p>
            <a:pPr algn="l">
              <a:spcBef>
                <a:spcPts val="0"/>
              </a:spcBef>
              <a:spcAft>
                <a:spcPts val="400"/>
              </a:spcAft>
            </a:pPr>
            <a:r>
              <a:rPr sz="1300" b="0">
                <a:solidFill>
                  <a:srgbClr val="173042"/>
                </a:solidFill>
                <a:latin typeface="Calibri"/>
                <a:ea typeface="Calibri"/>
                <a:cs typeface="Calibri"/>
              </a:rPr>
              <a:t>Audiens memahami KlinikDent.id sebagai sistem informasi klinik gigi, dan bahwa ada kerja sama pendampingan untuk menyesuaikan kebutuhan klinik.</a:t>
            </a:r>
          </a:p>
          <a:p>
            <a:pPr algn="l">
              <a:spcBef>
                <a:spcPts val="800"/>
              </a:spcBef>
              <a:spcAft>
                <a:spcPts val="200"/>
              </a:spcAft>
            </a:pPr>
            <a:r>
              <a:rPr sz="1500" b="1">
                <a:solidFill>
                  <a:srgbClr val="0E7C86"/>
                </a:solidFill>
                <a:latin typeface="Calibri"/>
                <a:ea typeface="Calibri"/>
                <a:cs typeface="Calibri"/>
              </a:rPr>
              <a:t>NASKAH</a:t>
            </a:r>
          </a:p>
          <a:p>
            <a:pPr algn="l">
              <a:spcBef>
                <a:spcPts val="0"/>
              </a:spcBef>
              <a:spcAft>
                <a:spcPts val="400"/>
              </a:spcAft>
            </a:pPr>
            <a:r>
              <a:rPr sz="1300" b="0">
                <a:solidFill>
                  <a:srgbClr val="173042"/>
                </a:solidFill>
                <a:latin typeface="Calibri"/>
                <a:ea typeface="Calibri"/>
                <a:cs typeface="Calibri"/>
              </a:rPr>
              <a:t>Terima kasih atas waktunya. KlinikDent.id membantu klinik gigi menjalankan pelayanan pasien, operasional, keuangan, dan farmasi dalam satu sistem. Kami juga membuka kerja sama pendampingan untuk menyesuaikan sistem dengan kebutuhan klinik. Hari ini saya menunjukkan cakupan yang sudah berjalan, bagian yang bisa dilihat langsung, lalu kita petakan kebutuhan yang paling penting.</a:t>
            </a:r>
          </a:p>
          <a:p>
            <a:pPr algn="l">
              <a:spcBef>
                <a:spcPts val="800"/>
              </a:spcBef>
              <a:spcAft>
                <a:spcPts val="200"/>
              </a:spcAft>
            </a:pPr>
            <a:r>
              <a:rPr sz="1500" b="1">
                <a:solidFill>
                  <a:srgbClr val="0E7C86"/>
                </a:solidFill>
                <a:latin typeface="Calibri"/>
                <a:ea typeface="Calibri"/>
                <a:cs typeface="Calibri"/>
              </a:rPr>
              <a:t>TRANSISI</a:t>
            </a:r>
          </a:p>
          <a:p>
            <a:pPr algn="l">
              <a:spcBef>
                <a:spcPts val="0"/>
              </a:spcBef>
              <a:spcAft>
                <a:spcPts val="400"/>
              </a:spcAft>
            </a:pPr>
            <a:r>
              <a:rPr sz="1300" b="0">
                <a:solidFill>
                  <a:srgbClr val="173042"/>
                </a:solidFill>
                <a:latin typeface="Calibri"/>
                <a:ea typeface="Calibri"/>
                <a:cs typeface="Calibri"/>
              </a:rPr>
              <a:t>Kita mulai dari modul yang sudah tersedia.</a:t>
            </a:r>
          </a:p>
          <a:p>
            <a:pPr algn="l">
              <a:spcBef>
                <a:spcPts val="800"/>
              </a:spcBef>
              <a:spcAft>
                <a:spcPts val="200"/>
              </a:spcAft>
            </a:pPr>
            <a:r>
              <a:rPr sz="1500" b="1">
                <a:solidFill>
                  <a:srgbClr val="0E7C86"/>
                </a:solidFill>
                <a:latin typeface="Calibri"/>
                <a:ea typeface="Calibri"/>
                <a:cs typeface="Calibri"/>
              </a:rPr>
              <a:t>PERTANYAAN</a:t>
            </a:r>
          </a:p>
          <a:p>
            <a:pPr algn="l">
              <a:spcBef>
                <a:spcPts val="0"/>
              </a:spcBef>
              <a:spcAft>
                <a:spcPts val="400"/>
              </a:spcAft>
            </a:pPr>
            <a:r>
              <a:rPr sz="1300" b="0">
                <a:solidFill>
                  <a:srgbClr val="173042"/>
                </a:solidFill>
                <a:latin typeface="Calibri"/>
                <a:ea typeface="Calibri"/>
                <a:cs typeface="Calibri"/>
              </a:rPr>
              <a:t>Agar demo-nya relevan: bagian mana yang paling sering menghambat hari ini — pendaftaran, rekam medis, kasir, atau stok obat?</a:t>
            </a:r>
          </a:p>
          <a:p>
            <a:pPr algn="l">
              <a:spcBef>
                <a:spcPts val="800"/>
              </a:spcBef>
              <a:spcAft>
                <a:spcPts val="200"/>
              </a:spcAft>
            </a:pPr>
            <a:r>
              <a:rPr sz="1500" b="1">
                <a:solidFill>
                  <a:srgbClr val="0E7C86"/>
                </a:solidFill>
                <a:latin typeface="Calibri"/>
                <a:ea typeface="Calibri"/>
                <a:cs typeface="Calibri"/>
              </a:rPr>
              <a:t>DEMO</a:t>
            </a:r>
          </a:p>
          <a:p>
            <a:pPr algn="l">
              <a:spcBef>
                <a:spcPts val="0"/>
              </a:spcBef>
              <a:spcAft>
                <a:spcPts val="400"/>
              </a:spcAft>
            </a:pPr>
            <a:r>
              <a:rPr sz="1300" b="0">
                <a:solidFill>
                  <a:srgbClr val="173042"/>
                </a:solidFill>
                <a:latin typeface="Calibri"/>
                <a:ea typeface="Calibri"/>
                <a:cs typeface="Calibri"/>
              </a:rPr>
              <a:t>Belum membuka aplikasi. Jangan menampilkan WhatsApp sebagai identitas produk.</a:t>
            </a:r>
          </a:p>
          <a:p>
            <a:pPr algn="l">
              <a:spcBef>
                <a:spcPts val="800"/>
              </a:spcBef>
              <a:spcAft>
                <a:spcPts val="200"/>
              </a:spcAft>
            </a:pPr>
            <a:r>
              <a:rPr sz="1500" b="1">
                <a:solidFill>
                  <a:srgbClr val="0E7C86"/>
                </a:solidFill>
                <a:latin typeface="Calibri"/>
                <a:ea typeface="Calibri"/>
                <a:cs typeface="Calibri"/>
              </a:rPr>
              <a:t>VERIFIKASI</a:t>
            </a:r>
          </a:p>
          <a:p>
            <a:pPr algn="l">
              <a:spcBef>
                <a:spcPts val="0"/>
              </a:spcBef>
              <a:spcAft>
                <a:spcPts val="400"/>
              </a:spcAft>
            </a:pPr>
            <a:r>
              <a:rPr sz="1300" b="0">
                <a:solidFill>
                  <a:srgbClr val="173042"/>
                </a:solidFill>
                <a:latin typeface="Calibri"/>
                <a:ea typeface="Calibri"/>
                <a:cs typeface="Calibri"/>
              </a:rPr>
              <a:t>Jangan menyebut produk terbaik atau sudah memenuhi semua kebutuhan klinik. Jangan membahas SATUSEHAT atau BPJS. Durasi slide ini sekitar 30 detik.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Bef>
                <a:spcPts val="0"/>
              </a:spcBef>
              <a:spcAft>
                <a:spcPts val="200"/>
              </a:spcAft>
            </a:pPr>
            <a:r>
              <a:rPr sz="1500" b="1">
                <a:solidFill>
                  <a:srgbClr val="0E7C86"/>
                </a:solidFill>
                <a:latin typeface="Calibri"/>
                <a:ea typeface="Calibri"/>
                <a:cs typeface="Calibri"/>
              </a:rPr>
              <a:t>TUJUAN</a:t>
            </a:r>
          </a:p>
          <a:p>
            <a:pPr algn="l">
              <a:spcBef>
                <a:spcPts val="0"/>
              </a:spcBef>
              <a:spcAft>
                <a:spcPts val="400"/>
              </a:spcAft>
            </a:pPr>
            <a:r>
              <a:rPr sz="1300" b="0">
                <a:solidFill>
                  <a:srgbClr val="173042"/>
                </a:solidFill>
                <a:latin typeface="Calibri"/>
                <a:ea typeface="Calibri"/>
                <a:cs typeface="Calibri"/>
              </a:rPr>
              <a:t>Audiens melihat empat kelompok modul yang sudah punya alur di aplikasi, tanpa merasa semua kebutuhan klinik otomatis tercakup.</a:t>
            </a:r>
          </a:p>
          <a:p>
            <a:pPr algn="l">
              <a:spcBef>
                <a:spcPts val="800"/>
              </a:spcBef>
              <a:spcAft>
                <a:spcPts val="200"/>
              </a:spcAft>
            </a:pPr>
            <a:r>
              <a:rPr sz="1500" b="1">
                <a:solidFill>
                  <a:srgbClr val="0E7C86"/>
                </a:solidFill>
                <a:latin typeface="Calibri"/>
                <a:ea typeface="Calibri"/>
                <a:cs typeface="Calibri"/>
              </a:rPr>
              <a:t>NASKAH</a:t>
            </a:r>
          </a:p>
          <a:p>
            <a:pPr algn="l">
              <a:spcBef>
                <a:spcPts val="0"/>
              </a:spcBef>
              <a:spcAft>
                <a:spcPts val="400"/>
              </a:spcAft>
            </a:pPr>
            <a:r>
              <a:rPr sz="1300" b="0">
                <a:solidFill>
                  <a:srgbClr val="173042"/>
                </a:solidFill>
                <a:latin typeface="Calibri"/>
                <a:ea typeface="Calibri"/>
                <a:cs typeface="Calibri"/>
              </a:rPr>
              <a:t>Yang sudah berjalan terbagi empat. Pelayanan mencakup pendaftaran, kunjungan, rekam medis, odontogram dewasa dan sulung, diagnosis, tindakan, resep obat jadi maupun racikan, rujukan, dan instruksi pasien. Operasional mencakup dokter, jadwal, ruangan, hak akses, lebih dari satu klinik, dan cabang. Keuangan mencakup tagihan, kasir, pencatatan pembayaran termasuk QRIS, shift, piutang, serta laporan sampai laba rugi. Farmasi memproses resep sampai obat diserahkan, dengan stok per batch. Obat yang lebih dulu kedaluwarsa dipakai lebih dulu. Pengadaan lewat supplier dan penerimaan barang juga ada.</a:t>
            </a:r>
          </a:p>
          <a:p>
            <a:pPr algn="l">
              <a:spcBef>
                <a:spcPts val="800"/>
              </a:spcBef>
              <a:spcAft>
                <a:spcPts val="200"/>
              </a:spcAft>
            </a:pPr>
            <a:r>
              <a:rPr sz="1500" b="1">
                <a:solidFill>
                  <a:srgbClr val="0E7C86"/>
                </a:solidFill>
                <a:latin typeface="Calibri"/>
                <a:ea typeface="Calibri"/>
                <a:cs typeface="Calibri"/>
              </a:rPr>
              <a:t>RINCIAN YANG TIDAK MUAT DI SLIDE</a:t>
            </a:r>
          </a:p>
          <a:p>
            <a:pPr algn="l">
              <a:spcBef>
                <a:spcPts val="0"/>
              </a:spcBef>
              <a:spcAft>
                <a:spcPts val="400"/>
              </a:spcAft>
            </a:pPr>
            <a:r>
              <a:rPr sz="1300" b="0">
                <a:solidFill>
                  <a:srgbClr val="173042"/>
                </a:solidFill>
                <a:latin typeface="Calibri"/>
                <a:ea typeface="Calibri"/>
                <a:cs typeface="Calibri"/>
              </a:rPr>
              <a:t>Pelayanan juga memiliki antrean, loket, layar monitor, booking sesi dokter lewat halaman publik, keluhan, screening, tanda vital, dan pemeriksaan gigi. PDF yang aman disebut: rujukan dan instruksi, dari tab yang tampil. Resume dapat diunduh pasien lewat portal. Surat sakit, finalisasi rekam medis, adendum, dan form pesanan lab di layar dokter ada berkasnya, tetapi belum masuk tab pelayanan — jangan didemokan dan jangan dijanjikan sebelum dicek langsung. Daftar pesanan lab yang sudah ada dapat dilihat di menu farmasi.</a:t>
            </a:r>
          </a:p>
          <a:p>
            <a:pPr algn="l">
              <a:spcBef>
                <a:spcPts val="0"/>
              </a:spcBef>
              <a:spcAft>
                <a:spcPts val="400"/>
              </a:spcAft>
            </a:pPr>
            <a:r>
              <a:rPr sz="1300" b="0">
                <a:solidFill>
                  <a:srgbClr val="173042"/>
                </a:solidFill>
                <a:latin typeface="Calibri"/>
                <a:ea typeface="Calibri"/>
                <a:cs typeface="Calibri"/>
              </a:rPr>
              <a:t>QRIS di kasir adalah pencatatan metode bayar, bukan pembayaran otomatis ke penyedia QRIS. Pembayaran paket langganan klinik terpisah, lewat Midtrans.</a:t>
            </a:r>
          </a:p>
          <a:p>
            <a:pPr algn="l">
              <a:spcBef>
                <a:spcPts val="800"/>
              </a:spcBef>
              <a:spcAft>
                <a:spcPts val="200"/>
              </a:spcAft>
            </a:pPr>
            <a:r>
              <a:rPr sz="1500" b="1">
                <a:solidFill>
                  <a:srgbClr val="0E7C86"/>
                </a:solidFill>
                <a:latin typeface="Calibri"/>
                <a:ea typeface="Calibri"/>
                <a:cs typeface="Calibri"/>
              </a:rPr>
              <a:t>TRANSISI</a:t>
            </a:r>
          </a:p>
          <a:p>
            <a:pPr algn="l">
              <a:spcBef>
                <a:spcPts val="0"/>
              </a:spcBef>
              <a:spcAft>
                <a:spcPts val="400"/>
              </a:spcAft>
            </a:pPr>
            <a:r>
              <a:rPr sz="1300" b="0">
                <a:solidFill>
                  <a:srgbClr val="173042"/>
                </a:solidFill>
                <a:latin typeface="Calibri"/>
                <a:ea typeface="Calibri"/>
                <a:cs typeface="Calibri"/>
              </a:rPr>
              <a:t>Agar tidak berhenti di daftar, saya tunjukkan dua tampilan yang nanti bisa kita lihat langsung.</a:t>
            </a:r>
          </a:p>
          <a:p>
            <a:pPr algn="l">
              <a:spcBef>
                <a:spcPts val="800"/>
              </a:spcBef>
              <a:spcAft>
                <a:spcPts val="200"/>
              </a:spcAft>
            </a:pPr>
            <a:r>
              <a:rPr sz="1500" b="1">
                <a:solidFill>
                  <a:srgbClr val="0E7C86"/>
                </a:solidFill>
                <a:latin typeface="Calibri"/>
                <a:ea typeface="Calibri"/>
                <a:cs typeface="Calibri"/>
              </a:rPr>
              <a:t>PERTANYAAN</a:t>
            </a:r>
          </a:p>
          <a:p>
            <a:pPr algn="l">
              <a:spcBef>
                <a:spcPts val="0"/>
              </a:spcBef>
              <a:spcAft>
                <a:spcPts val="400"/>
              </a:spcAft>
            </a:pPr>
            <a:r>
              <a:rPr sz="1300" b="0">
                <a:solidFill>
                  <a:srgbClr val="173042"/>
                </a:solidFill>
                <a:latin typeface="Calibri"/>
                <a:ea typeface="Calibri"/>
                <a:cs typeface="Calibri"/>
              </a:rPr>
              <a:t>Di antara empat kelompok ini, mana yang paling dekat dengan pekerjaan harian Bapak/Ibu?</a:t>
            </a:r>
          </a:p>
          <a:p>
            <a:pPr algn="l">
              <a:spcBef>
                <a:spcPts val="800"/>
              </a:spcBef>
              <a:spcAft>
                <a:spcPts val="200"/>
              </a:spcAft>
            </a:pPr>
            <a:r>
              <a:rPr sz="1500" b="1">
                <a:solidFill>
                  <a:srgbClr val="0E7C86"/>
                </a:solidFill>
                <a:latin typeface="Calibri"/>
                <a:ea typeface="Calibri"/>
                <a:cs typeface="Calibri"/>
              </a:rPr>
              <a:t>DEMO</a:t>
            </a:r>
          </a:p>
          <a:p>
            <a:pPr algn="l">
              <a:spcBef>
                <a:spcPts val="0"/>
              </a:spcBef>
              <a:spcAft>
                <a:spcPts val="400"/>
              </a:spcAft>
            </a:pPr>
            <a:r>
              <a:rPr sz="1300" b="0">
                <a:solidFill>
                  <a:srgbClr val="173042"/>
                </a:solidFill>
                <a:latin typeface="Calibri"/>
                <a:ea typeface="Calibri"/>
                <a:cs typeface="Calibri"/>
              </a:rPr>
              <a:t>Belum ada gambar. Siapkan akun yang bisa membuka pendaftaran, pelayanan, kasir, dan farmasi. Akun pemilik klinik paling praktis untuk audiens campuran.</a:t>
            </a:r>
          </a:p>
          <a:p>
            <a:pPr algn="l">
              <a:spcBef>
                <a:spcPts val="800"/>
              </a:spcBef>
              <a:spcAft>
                <a:spcPts val="200"/>
              </a:spcAft>
            </a:pPr>
            <a:r>
              <a:rPr sz="1500" b="1">
                <a:solidFill>
                  <a:srgbClr val="0E7C86"/>
                </a:solidFill>
                <a:latin typeface="Calibri"/>
                <a:ea typeface="Calibri"/>
                <a:cs typeface="Calibri"/>
              </a:rPr>
              <a:t>VERIFIKASI</a:t>
            </a:r>
          </a:p>
          <a:p>
            <a:pPr algn="l">
              <a:spcBef>
                <a:spcPts val="0"/>
              </a:spcBef>
              <a:spcAft>
                <a:spcPts val="400"/>
              </a:spcAft>
            </a:pPr>
            <a:r>
              <a:rPr sz="1300" b="0">
                <a:solidFill>
                  <a:srgbClr val="173042"/>
                </a:solidFill>
                <a:latin typeface="Calibri"/>
                <a:ea typeface="Calibri"/>
                <a:cs typeface="Calibri"/>
              </a:rPr>
              <a:t>Jangan menyebut surat sakit, finalisasi, atau pesanan lab dari layar dokter sebagai fitur yang siap ditampilkan. Jangan menyebut SATUSEHAT atau BPJS. Durasi sekitar 1 menit.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Bef>
                <a:spcPts val="0"/>
              </a:spcBef>
              <a:spcAft>
                <a:spcPts val="200"/>
              </a:spcAft>
            </a:pPr>
            <a:r>
              <a:rPr sz="1500" b="1">
                <a:solidFill>
                  <a:srgbClr val="0E7C86"/>
                </a:solidFill>
                <a:latin typeface="Calibri"/>
                <a:ea typeface="Calibri"/>
                <a:cs typeface="Calibri"/>
              </a:rPr>
              <a:t>TUJUAN</a:t>
            </a:r>
          </a:p>
          <a:p>
            <a:pPr algn="l">
              <a:spcBef>
                <a:spcPts val="0"/>
              </a:spcBef>
              <a:spcAft>
                <a:spcPts val="400"/>
              </a:spcAft>
            </a:pPr>
            <a:r>
              <a:rPr sz="1300" b="0">
                <a:solidFill>
                  <a:srgbClr val="173042"/>
                </a:solidFill>
                <a:latin typeface="Calibri"/>
                <a:ea typeface="Calibri"/>
                <a:cs typeface="Calibri"/>
              </a:rPr>
              <a:t>Audiens melihat dua bukti visual, lalu memahami urutan demo. Gambar di slide masih area kosong yang harus diganti screenshot asli.</a:t>
            </a:r>
          </a:p>
          <a:p>
            <a:pPr algn="l">
              <a:spcBef>
                <a:spcPts val="800"/>
              </a:spcBef>
              <a:spcAft>
                <a:spcPts val="200"/>
              </a:spcAft>
            </a:pPr>
            <a:r>
              <a:rPr sz="1500" b="1">
                <a:solidFill>
                  <a:srgbClr val="0E7C86"/>
                </a:solidFill>
                <a:latin typeface="Calibri"/>
                <a:ea typeface="Calibri"/>
                <a:cs typeface="Calibri"/>
              </a:rPr>
              <a:t>NASKAH</a:t>
            </a:r>
          </a:p>
          <a:p>
            <a:pPr algn="l">
              <a:spcBef>
                <a:spcPts val="0"/>
              </a:spcBef>
              <a:spcAft>
                <a:spcPts val="400"/>
              </a:spcAft>
            </a:pPr>
            <a:r>
              <a:rPr sz="1300" b="0">
                <a:solidFill>
                  <a:srgbClr val="173042"/>
                </a:solidFill>
                <a:latin typeface="Calibri"/>
                <a:ea typeface="Calibri"/>
                <a:cs typeface="Calibri"/>
              </a:rPr>
              <a:t>Saya sengaja membatasi dua gambar agar tetap terbaca. Yang kiri adalah halaman Pendaftaran: dari sini pasien masuk dan kunjungan hari ini terlihat. Yang kanan adalah halaman Pelayanan, pada tab Odontogram. Identitas pasien ada di bagian atas, lalu kondisi gigi dewasa dan sulung dicatat pada kunjungan yang sama. Tab lain di halaman itu — keluhan, screening, pemeriksaan, diagnosis, tindakan, resep, rujukan, dan instruksi — kita buka sesuai minat audiens, tidak semuanya.</a:t>
            </a:r>
          </a:p>
          <a:p>
            <a:pPr algn="l">
              <a:spcBef>
                <a:spcPts val="800"/>
              </a:spcBef>
              <a:spcAft>
                <a:spcPts val="200"/>
              </a:spcAft>
            </a:pPr>
            <a:r>
              <a:rPr sz="1500" b="1">
                <a:solidFill>
                  <a:srgbClr val="0E7C86"/>
                </a:solidFill>
                <a:latin typeface="Calibri"/>
                <a:ea typeface="Calibri"/>
                <a:cs typeface="Calibri"/>
              </a:rPr>
              <a:t>TRANSISI</a:t>
            </a:r>
          </a:p>
          <a:p>
            <a:pPr algn="l">
              <a:spcBef>
                <a:spcPts val="0"/>
              </a:spcBef>
              <a:spcAft>
                <a:spcPts val="400"/>
              </a:spcAft>
            </a:pPr>
            <a:r>
              <a:rPr sz="1300" b="0">
                <a:solidFill>
                  <a:srgbClr val="173042"/>
                </a:solidFill>
                <a:latin typeface="Calibri"/>
                <a:ea typeface="Calibri"/>
                <a:cs typeface="Calibri"/>
              </a:rPr>
              <a:t>Setelah alur klinis, kita lihat bagaimana kasir dan farmasi mendukung hari kerja klinik.</a:t>
            </a:r>
          </a:p>
          <a:p>
            <a:pPr algn="l">
              <a:spcBef>
                <a:spcPts val="800"/>
              </a:spcBef>
              <a:spcAft>
                <a:spcPts val="200"/>
              </a:spcAft>
            </a:pPr>
            <a:r>
              <a:rPr sz="1500" b="1">
                <a:solidFill>
                  <a:srgbClr val="0E7C86"/>
                </a:solidFill>
                <a:latin typeface="Calibri"/>
                <a:ea typeface="Calibri"/>
                <a:cs typeface="Calibri"/>
              </a:rPr>
              <a:t>PERTANYAAN</a:t>
            </a:r>
          </a:p>
          <a:p>
            <a:pPr algn="l">
              <a:spcBef>
                <a:spcPts val="0"/>
              </a:spcBef>
              <a:spcAft>
                <a:spcPts val="400"/>
              </a:spcAft>
            </a:pPr>
            <a:r>
              <a:rPr sz="1300" b="0">
                <a:solidFill>
                  <a:srgbClr val="173042"/>
                </a:solidFill>
                <a:latin typeface="Calibri"/>
                <a:ea typeface="Calibri"/>
                <a:cs typeface="Calibri"/>
              </a:rPr>
              <a:t>Apakah pencatatan gigi hari ini masih di kertas, atau sudah ada sistem lain?</a:t>
            </a:r>
          </a:p>
          <a:p>
            <a:pPr algn="l">
              <a:spcBef>
                <a:spcPts val="800"/>
              </a:spcBef>
              <a:spcAft>
                <a:spcPts val="200"/>
              </a:spcAft>
            </a:pPr>
            <a:r>
              <a:rPr sz="1500" b="1">
                <a:solidFill>
                  <a:srgbClr val="0E7C86"/>
                </a:solidFill>
                <a:latin typeface="Calibri"/>
                <a:ea typeface="Calibri"/>
                <a:cs typeface="Calibri"/>
              </a:rPr>
              <a:t>DEMO</a:t>
            </a:r>
          </a:p>
          <a:p>
            <a:pPr algn="l">
              <a:spcBef>
                <a:spcPts val="0"/>
              </a:spcBef>
              <a:spcAft>
                <a:spcPts val="400"/>
              </a:spcAft>
            </a:pPr>
            <a:r>
              <a:rPr sz="1300" b="0">
                <a:solidFill>
                  <a:srgbClr val="173042"/>
                </a:solidFill>
                <a:latin typeface="Calibri"/>
                <a:ea typeface="Calibri"/>
                <a:cs typeface="Calibri"/>
              </a:rPr>
              <a:t>Ganti SCREENSHOT_01 dengan halaman Pendaftaran (/registration). Yang harus terlihat: judul halaman, ringkasan kunjungan hari ini, dan akses pendaftaran baru. Jangan memotong judul.</a:t>
            </a:r>
          </a:p>
          <a:p>
            <a:pPr algn="l">
              <a:spcBef>
                <a:spcPts val="0"/>
              </a:spcBef>
              <a:spcAft>
                <a:spcPts val="400"/>
              </a:spcAft>
            </a:pPr>
            <a:r>
              <a:rPr sz="1300" b="0">
                <a:solidFill>
                  <a:srgbClr val="173042"/>
                </a:solidFill>
                <a:latin typeface="Calibri"/>
                <a:ea typeface="Calibri"/>
                <a:cs typeface="Calibri"/>
              </a:rPr>
              <a:t>Ganti SCREENSHOT_02 dengan satu kunjungan di halaman Pelayanan, tab Odontogram (/visits/{id}/care?tab=odontogram). Pastikan nama pasien dan bagan gigi ikut terpotret. Saat bicara, buka dulu tab Keluhan sebentar, lalu Odontogram.</a:t>
            </a:r>
          </a:p>
          <a:p>
            <a:pPr algn="l">
              <a:spcBef>
                <a:spcPts val="0"/>
              </a:spcBef>
              <a:spcAft>
                <a:spcPts val="400"/>
              </a:spcAft>
            </a:pPr>
            <a:r>
              <a:rPr sz="1300" b="0">
                <a:solidFill>
                  <a:srgbClr val="173042"/>
                </a:solidFill>
                <a:latin typeface="Calibri"/>
                <a:ea typeface="Calibri"/>
                <a:cs typeface="Calibri"/>
              </a:rPr>
              <a:t>Jika audiens dokter: lanjut ke tab Tindakan dan Resep pada halaman yang sama. Jika audiens pemilik atau operasional: jangan berlama-lama, lanjut ke kasir.</a:t>
            </a:r>
          </a:p>
          <a:p>
            <a:pPr algn="l">
              <a:spcBef>
                <a:spcPts val="0"/>
              </a:spcBef>
              <a:spcAft>
                <a:spcPts val="400"/>
              </a:spcAft>
            </a:pPr>
            <a:r>
              <a:rPr sz="1300" b="0">
                <a:solidFill>
                  <a:srgbClr val="173042"/>
                </a:solidFill>
                <a:latin typeface="Calibri"/>
                <a:ea typeface="Calibri"/>
                <a:cs typeface="Calibri"/>
              </a:rPr>
              <a:t>Cadangan: Screenshot 03 adalah odontogram bila gambar 02 belum menunjukkannya. Screenshot 04 adalah tab Tindakan atau Resep. Keduanya tidak dipasang di slide agar gambar tetap besar. Cara mengganti ada di Checklist_Screenshot_KlinikDent.md. Klik kanan objek SCREENSHOT_01 atau SCREENSHOT_02, pilih Ubah Gambar. Jangan menghapus judul di bawahnya.</a:t>
            </a:r>
          </a:p>
          <a:p>
            <a:pPr algn="l">
              <a:spcBef>
                <a:spcPts val="800"/>
              </a:spcBef>
              <a:spcAft>
                <a:spcPts val="200"/>
              </a:spcAft>
            </a:pPr>
            <a:r>
              <a:rPr sz="1500" b="1">
                <a:solidFill>
                  <a:srgbClr val="0E7C86"/>
                </a:solidFill>
                <a:latin typeface="Calibri"/>
                <a:ea typeface="Calibri"/>
                <a:cs typeface="Calibri"/>
              </a:rPr>
              <a:t>VERIFIKASI</a:t>
            </a:r>
          </a:p>
          <a:p>
            <a:pPr algn="l">
              <a:spcBef>
                <a:spcPts val="0"/>
              </a:spcBef>
              <a:spcAft>
                <a:spcPts val="400"/>
              </a:spcAft>
            </a:pPr>
            <a:r>
              <a:rPr sz="1300" b="0">
                <a:solidFill>
                  <a:srgbClr val="173042"/>
                </a:solidFill>
                <a:latin typeface="Calibri"/>
                <a:ea typeface="Calibri"/>
                <a:cs typeface="Calibri"/>
              </a:rPr>
              <a:t>Pastikan data demo punya pasien, kunjungan, dan beberapa gigi terisi. Jangan membuka tab yang tidak muncul. Durasi bersama demo sekitar 2 menit.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Bef>
                <a:spcPts val="0"/>
              </a:spcBef>
              <a:spcAft>
                <a:spcPts val="200"/>
              </a:spcAft>
            </a:pPr>
            <a:r>
              <a:rPr sz="1500" b="1">
                <a:solidFill>
                  <a:srgbClr val="0E7C86"/>
                </a:solidFill>
                <a:latin typeface="Calibri"/>
                <a:ea typeface="Calibri"/>
                <a:cs typeface="Calibri"/>
              </a:rPr>
              <a:t>TUJUAN</a:t>
            </a:r>
          </a:p>
          <a:p>
            <a:pPr algn="l">
              <a:spcBef>
                <a:spcPts val="0"/>
              </a:spcBef>
              <a:spcAft>
                <a:spcPts val="400"/>
              </a:spcAft>
            </a:pPr>
            <a:r>
              <a:rPr sz="1300" b="0">
                <a:solidFill>
                  <a:srgbClr val="173042"/>
                </a:solidFill>
                <a:latin typeface="Calibri"/>
                <a:ea typeface="Calibri"/>
                <a:cs typeface="Calibri"/>
              </a:rPr>
              <a:t>Audiens melihat bahwa sistem ikut dipakai setelah pasien selesai diperiksa: siapa yang bertugas, bagaimana uang dicatat, dan bagaimana obat dikendalikan.</a:t>
            </a:r>
          </a:p>
          <a:p>
            <a:pPr algn="l">
              <a:spcBef>
                <a:spcPts val="800"/>
              </a:spcBef>
              <a:spcAft>
                <a:spcPts val="200"/>
              </a:spcAft>
            </a:pPr>
            <a:r>
              <a:rPr sz="1500" b="1">
                <a:solidFill>
                  <a:srgbClr val="0E7C86"/>
                </a:solidFill>
                <a:latin typeface="Calibri"/>
                <a:ea typeface="Calibri"/>
                <a:cs typeface="Calibri"/>
              </a:rPr>
              <a:t>NASKAH</a:t>
            </a:r>
          </a:p>
          <a:p>
            <a:pPr algn="l">
              <a:spcBef>
                <a:spcPts val="0"/>
              </a:spcBef>
              <a:spcAft>
                <a:spcPts val="400"/>
              </a:spcAft>
            </a:pPr>
            <a:r>
              <a:rPr sz="1300" b="0">
                <a:solidFill>
                  <a:srgbClr val="173042"/>
                </a:solidFill>
                <a:latin typeface="Calibri"/>
                <a:ea typeface="Calibri"/>
                <a:cs typeface="Calibri"/>
              </a:rPr>
              <a:t>Tiga aktivitas ini yang paling sering ditanyakan pemilik klinik. Pertama, dokter, jadwal, ruangan, dan hak akses. Staf pendaftaran, dokter, farmasi, dan kasir tidak melihat menu yang sama. Kedua, tagihan. Item pelayanan bisa menjadi tagihan, lalu kasir mencatat pembayaran tunai, kartu, transfer, atau QRIS. QRIS di sini dicatat sebagai metode, belum terhubung otomatis ke penyedia pembayaran. Shift kasir dibuka dan ditutup. Laporan pendapatan, arus kas, dan laba rugi tersedia sebagai laporan. Ketiga, farmasi. Resep yang dikirim dokter diproses sampai diserahkan. Stok menyimpan batch dan tanggal kedaluwarsa. Saat obat dikeluarkan, batch yang lebih dulu kedaluwarsa yang terpakai.</a:t>
            </a:r>
          </a:p>
          <a:p>
            <a:pPr algn="l">
              <a:spcBef>
                <a:spcPts val="800"/>
              </a:spcBef>
              <a:spcAft>
                <a:spcPts val="200"/>
              </a:spcAft>
            </a:pPr>
            <a:r>
              <a:rPr sz="1500" b="1">
                <a:solidFill>
                  <a:srgbClr val="0E7C86"/>
                </a:solidFill>
                <a:latin typeface="Calibri"/>
                <a:ea typeface="Calibri"/>
                <a:cs typeface="Calibri"/>
              </a:rPr>
              <a:t>TRANSISI</a:t>
            </a:r>
          </a:p>
          <a:p>
            <a:pPr algn="l">
              <a:spcBef>
                <a:spcPts val="0"/>
              </a:spcBef>
              <a:spcAft>
                <a:spcPts val="400"/>
              </a:spcAft>
            </a:pPr>
            <a:r>
              <a:rPr sz="1300" b="0">
                <a:solidFill>
                  <a:srgbClr val="173042"/>
                </a:solidFill>
                <a:latin typeface="Calibri"/>
                <a:ea typeface="Calibri"/>
                <a:cs typeface="Calibri"/>
              </a:rPr>
              <a:t>Selain operasional harian, ada beberapa fitur pendukung. Kebutuhan yang belum tercakup kita bahas lewat pendampingan.</a:t>
            </a:r>
          </a:p>
          <a:p>
            <a:pPr algn="l">
              <a:spcBef>
                <a:spcPts val="800"/>
              </a:spcBef>
              <a:spcAft>
                <a:spcPts val="200"/>
              </a:spcAft>
            </a:pPr>
            <a:r>
              <a:rPr sz="1500" b="1">
                <a:solidFill>
                  <a:srgbClr val="0E7C86"/>
                </a:solidFill>
                <a:latin typeface="Calibri"/>
                <a:ea typeface="Calibri"/>
                <a:cs typeface="Calibri"/>
              </a:rPr>
              <a:t>PERTANYAAN</a:t>
            </a:r>
          </a:p>
          <a:p>
            <a:pPr algn="l">
              <a:spcBef>
                <a:spcPts val="0"/>
              </a:spcBef>
              <a:spcAft>
                <a:spcPts val="400"/>
              </a:spcAft>
            </a:pPr>
            <a:r>
              <a:rPr sz="1300" b="0">
                <a:solidFill>
                  <a:srgbClr val="173042"/>
                </a:solidFill>
                <a:latin typeface="Calibri"/>
                <a:ea typeface="Calibri"/>
                <a:cs typeface="Calibri"/>
              </a:rPr>
              <a:t>Pembayaran pasien dan stok obat saat ini dicatat di mana?</a:t>
            </a:r>
          </a:p>
          <a:p>
            <a:pPr algn="l">
              <a:spcBef>
                <a:spcPts val="800"/>
              </a:spcBef>
              <a:spcAft>
                <a:spcPts val="200"/>
              </a:spcAft>
            </a:pPr>
            <a:r>
              <a:rPr sz="1500" b="1">
                <a:solidFill>
                  <a:srgbClr val="0E7C86"/>
                </a:solidFill>
                <a:latin typeface="Calibri"/>
                <a:ea typeface="Calibri"/>
                <a:cs typeface="Calibri"/>
              </a:rPr>
              <a:t>DEMO</a:t>
            </a:r>
          </a:p>
          <a:p>
            <a:pPr algn="l">
              <a:spcBef>
                <a:spcPts val="0"/>
              </a:spcBef>
              <a:spcAft>
                <a:spcPts val="400"/>
              </a:spcAft>
            </a:pPr>
            <a:r>
              <a:rPr sz="1300" b="0">
                <a:solidFill>
                  <a:srgbClr val="173042"/>
                </a:solidFill>
                <a:latin typeface="Calibri"/>
                <a:ea typeface="Calibri"/>
                <a:cs typeface="Calibri"/>
              </a:rPr>
              <a:t>Ganti SCREENSHOT_05 dengan detail satu tagihan (/billing/invoices/{id}). Tonjolkan nama pasien, item, dan pilihan metode bayar. Jangan menjanjikan QRIS otomatis.</a:t>
            </a:r>
          </a:p>
          <a:p>
            <a:pPr algn="l">
              <a:spcBef>
                <a:spcPts val="0"/>
              </a:spcBef>
              <a:spcAft>
                <a:spcPts val="400"/>
              </a:spcAft>
            </a:pPr>
            <a:r>
              <a:rPr sz="1300" b="0">
                <a:solidFill>
                  <a:srgbClr val="173042"/>
                </a:solidFill>
                <a:latin typeface="Calibri"/>
                <a:ea typeface="Calibri"/>
                <a:cs typeface="Calibri"/>
              </a:rPr>
              <a:t>Ganti SCREENSHOT_06 dengan halaman Stok Obat (/pharmacy/stock). Tonjolkan nama obat, batch, tanggal kedaluwarsa, dan jumlah. Jika ditanya FEFO: jelaskan dengan kalimat sederhana, tanpa istilah sistem.</a:t>
            </a:r>
          </a:p>
          <a:p>
            <a:pPr algn="l">
              <a:spcBef>
                <a:spcPts val="800"/>
              </a:spcBef>
              <a:spcAft>
                <a:spcPts val="200"/>
              </a:spcAft>
            </a:pPr>
            <a:r>
              <a:rPr sz="1500" b="1">
                <a:solidFill>
                  <a:srgbClr val="0E7C86"/>
                </a:solidFill>
                <a:latin typeface="Calibri"/>
                <a:ea typeface="Calibri"/>
                <a:cs typeface="Calibri"/>
              </a:rPr>
              <a:t>VERIFIKASI</a:t>
            </a:r>
          </a:p>
          <a:p>
            <a:pPr algn="l">
              <a:spcBef>
                <a:spcPts val="0"/>
              </a:spcBef>
              <a:spcAft>
                <a:spcPts val="400"/>
              </a:spcAft>
            </a:pPr>
            <a:r>
              <a:rPr sz="1300" b="0">
                <a:solidFill>
                  <a:srgbClr val="173042"/>
                </a:solidFill>
                <a:latin typeface="Calibri"/>
                <a:ea typeface="Calibri"/>
                <a:cs typeface="Calibri"/>
              </a:rPr>
              <a:t>Pastikan ada tagihan terbuka dan stok dengan batch. Jangan mengklaim sinkronisasi akuntansi real-time. Durasi sekitar 1 menit.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Bef>
                <a:spcPts val="0"/>
              </a:spcBef>
              <a:spcAft>
                <a:spcPts val="200"/>
              </a:spcAft>
            </a:pPr>
            <a:r>
              <a:rPr sz="1500" b="1">
                <a:solidFill>
                  <a:srgbClr val="0E7C86"/>
                </a:solidFill>
                <a:latin typeface="Calibri"/>
                <a:ea typeface="Calibri"/>
                <a:cs typeface="Calibri"/>
              </a:rPr>
              <a:t>TUJUAN</a:t>
            </a:r>
          </a:p>
          <a:p>
            <a:pPr algn="l">
              <a:spcBef>
                <a:spcPts val="0"/>
              </a:spcBef>
              <a:spcAft>
                <a:spcPts val="400"/>
              </a:spcAft>
            </a:pPr>
            <a:r>
              <a:rPr sz="1300" b="0">
                <a:solidFill>
                  <a:srgbClr val="173042"/>
                </a:solidFill>
                <a:latin typeface="Calibri"/>
                <a:ea typeface="Calibri"/>
                <a:cs typeface="Calibri"/>
              </a:rPr>
              <a:t>Audiens melihat fitur pendukung yang aman dibahas, lalu mendengar bahwa penyesuaian kebutuhan dilakukan lewat kerja sama pendampingan.</a:t>
            </a:r>
          </a:p>
          <a:p>
            <a:pPr algn="l">
              <a:spcBef>
                <a:spcPts val="800"/>
              </a:spcBef>
              <a:spcAft>
                <a:spcPts val="200"/>
              </a:spcAft>
            </a:pPr>
            <a:r>
              <a:rPr sz="1500" b="1">
                <a:solidFill>
                  <a:srgbClr val="0E7C86"/>
                </a:solidFill>
                <a:latin typeface="Calibri"/>
                <a:ea typeface="Calibri"/>
                <a:cs typeface="Calibri"/>
              </a:rPr>
              <a:t>NASKAH</a:t>
            </a:r>
          </a:p>
          <a:p>
            <a:pPr algn="l">
              <a:spcBef>
                <a:spcPts val="0"/>
              </a:spcBef>
              <a:spcAft>
                <a:spcPts val="400"/>
              </a:spcAft>
            </a:pPr>
            <a:r>
              <a:rPr sz="1300" b="0">
                <a:solidFill>
                  <a:srgbClr val="173042"/>
                </a:solidFill>
                <a:latin typeface="Calibri"/>
                <a:ea typeface="Calibri"/>
                <a:cs typeface="Calibri"/>
              </a:rPr>
              <a:t>Ada tiga pendukung yang bisa disebut hari ini. WhatsApp untuk pengingat, promo, template, dan riwayat pesan, setelah layanan pesannya dikonfigurasi. Portal pasien untuk melihat kunjungan dan mengunduh resume. Lalu audit log, arsip data praktik, dan paket langganan klinik. Pembayaran paket langganan lewat Midtrans, terpisah dari kasir pasien. Yang belum tercakup tidak saya janjikan di ruangan ini. KlinikDent.id membuka kerja sama pendampingan untuk menyesuaikan kebutuhan klinik.</a:t>
            </a:r>
          </a:p>
          <a:p>
            <a:pPr algn="l">
              <a:spcBef>
                <a:spcPts val="800"/>
              </a:spcBef>
              <a:spcAft>
                <a:spcPts val="200"/>
              </a:spcAft>
            </a:pPr>
            <a:r>
              <a:rPr sz="1500" b="1">
                <a:solidFill>
                  <a:srgbClr val="0E7C86"/>
                </a:solidFill>
                <a:latin typeface="Calibri"/>
                <a:ea typeface="Calibri"/>
                <a:cs typeface="Calibri"/>
              </a:rPr>
              <a:t>TRANSISI</a:t>
            </a:r>
          </a:p>
          <a:p>
            <a:pPr algn="l">
              <a:spcBef>
                <a:spcPts val="0"/>
              </a:spcBef>
              <a:spcAft>
                <a:spcPts val="400"/>
              </a:spcAft>
            </a:pPr>
            <a:r>
              <a:rPr sz="1300" b="0">
                <a:solidFill>
                  <a:srgbClr val="173042"/>
                </a:solidFill>
                <a:latin typeface="Calibri"/>
                <a:ea typeface="Calibri"/>
                <a:cs typeface="Calibri"/>
              </a:rPr>
              <a:t>Dari situ, kita lihat contoh kebutuhan yang bisa dibahas dalam pendampingan. Belum tentu semuanya menjadi prioritas klinik ini.</a:t>
            </a:r>
          </a:p>
          <a:p>
            <a:pPr algn="l">
              <a:spcBef>
                <a:spcPts val="800"/>
              </a:spcBef>
              <a:spcAft>
                <a:spcPts val="200"/>
              </a:spcAft>
            </a:pPr>
            <a:r>
              <a:rPr sz="1500" b="1">
                <a:solidFill>
                  <a:srgbClr val="0E7C86"/>
                </a:solidFill>
                <a:latin typeface="Calibri"/>
                <a:ea typeface="Calibri"/>
                <a:cs typeface="Calibri"/>
              </a:rPr>
              <a:t>PERTANYAAN</a:t>
            </a:r>
          </a:p>
          <a:p>
            <a:pPr algn="l">
              <a:spcBef>
                <a:spcPts val="0"/>
              </a:spcBef>
              <a:spcAft>
                <a:spcPts val="400"/>
              </a:spcAft>
            </a:pPr>
            <a:r>
              <a:rPr sz="1300" b="0">
                <a:solidFill>
                  <a:srgbClr val="173042"/>
                </a:solidFill>
                <a:latin typeface="Calibri"/>
                <a:ea typeface="Calibri"/>
                <a:cs typeface="Calibri"/>
              </a:rPr>
              <a:t>Apakah pesan ke pasien atau portal pasien relevan untuk operasional klinik ini?</a:t>
            </a:r>
          </a:p>
          <a:p>
            <a:pPr algn="l">
              <a:spcBef>
                <a:spcPts val="800"/>
              </a:spcBef>
              <a:spcAft>
                <a:spcPts val="200"/>
              </a:spcAft>
            </a:pPr>
            <a:r>
              <a:rPr sz="1500" b="1">
                <a:solidFill>
                  <a:srgbClr val="0E7C86"/>
                </a:solidFill>
                <a:latin typeface="Calibri"/>
                <a:ea typeface="Calibri"/>
                <a:cs typeface="Calibri"/>
              </a:rPr>
              <a:t>DEMO</a:t>
            </a:r>
          </a:p>
          <a:p>
            <a:pPr algn="l">
              <a:spcBef>
                <a:spcPts val="0"/>
              </a:spcBef>
              <a:spcAft>
                <a:spcPts val="400"/>
              </a:spcAft>
            </a:pPr>
            <a:r>
              <a:rPr sz="1300" b="0">
                <a:solidFill>
                  <a:srgbClr val="173042"/>
                </a:solidFill>
                <a:latin typeface="Calibri"/>
                <a:ea typeface="Calibri"/>
                <a:cs typeface="Calibri"/>
              </a:rPr>
              <a:t>Jangan membuka menu integrasi. Jangan menyebut atau mendemokan SATUSEHAT dan BPJS. Jika ada yang bertanya, jawab singkat: penyesuaian kebutuhan, termasuk integrasi, dibahas dalam kerja sama pendampingan dan tidak menjadi bagian pertemuan ini. Jika ditanya WhatsApp, siapkan Screenshot 08, bukan sebagai pembuka.</a:t>
            </a:r>
          </a:p>
          <a:p>
            <a:pPr algn="l">
              <a:spcBef>
                <a:spcPts val="800"/>
              </a:spcBef>
              <a:spcAft>
                <a:spcPts val="200"/>
              </a:spcAft>
            </a:pPr>
            <a:r>
              <a:rPr sz="1500" b="1">
                <a:solidFill>
                  <a:srgbClr val="0E7C86"/>
                </a:solidFill>
                <a:latin typeface="Calibri"/>
                <a:ea typeface="Calibri"/>
                <a:cs typeface="Calibri"/>
              </a:rPr>
              <a:t>VERIFIKASI</a:t>
            </a:r>
          </a:p>
          <a:p>
            <a:pPr algn="l">
              <a:spcBef>
                <a:spcPts val="0"/>
              </a:spcBef>
              <a:spcAft>
                <a:spcPts val="400"/>
              </a:spcAft>
            </a:pPr>
            <a:r>
              <a:rPr sz="1300" b="0">
                <a:solidFill>
                  <a:srgbClr val="173042"/>
                </a:solidFill>
                <a:latin typeface="Calibri"/>
                <a:ea typeface="Calibri"/>
                <a:cs typeface="Calibri"/>
              </a:rPr>
              <a:t>Pastikan tidak ada slide, catatan yang terbaca, atau demo yang menyinggung SATUSEHAT atau BPJS. Durasi sekitar 1 menit.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Bef>
                <a:spcPts val="0"/>
              </a:spcBef>
              <a:spcAft>
                <a:spcPts val="200"/>
              </a:spcAft>
            </a:pPr>
            <a:r>
              <a:rPr sz="1500" b="1">
                <a:solidFill>
                  <a:srgbClr val="0E7C86"/>
                </a:solidFill>
                <a:latin typeface="Calibri"/>
                <a:ea typeface="Calibri"/>
                <a:cs typeface="Calibri"/>
              </a:rPr>
              <a:t>TUJUAN</a:t>
            </a:r>
          </a:p>
          <a:p>
            <a:pPr algn="l">
              <a:spcBef>
                <a:spcPts val="0"/>
              </a:spcBef>
              <a:spcAft>
                <a:spcPts val="400"/>
              </a:spcAft>
            </a:pPr>
            <a:r>
              <a:rPr sz="1300" b="0">
                <a:solidFill>
                  <a:srgbClr val="173042"/>
                </a:solidFill>
                <a:latin typeface="Calibri"/>
                <a:ea typeface="Calibri"/>
                <a:cs typeface="Calibri"/>
              </a:rPr>
              <a:t>Audiens memahami tiga contoh pengembangan, tanpa menganggap ketiganya otomatis menjadi kebutuhan atau janji rilis.</a:t>
            </a:r>
          </a:p>
          <a:p>
            <a:pPr algn="l">
              <a:spcBef>
                <a:spcPts val="800"/>
              </a:spcBef>
              <a:spcAft>
                <a:spcPts val="200"/>
              </a:spcAft>
            </a:pPr>
            <a:r>
              <a:rPr sz="1500" b="1">
                <a:solidFill>
                  <a:srgbClr val="0E7C86"/>
                </a:solidFill>
                <a:latin typeface="Calibri"/>
                <a:ea typeface="Calibri"/>
                <a:cs typeface="Calibri"/>
              </a:rPr>
              <a:t>NASKAH</a:t>
            </a:r>
          </a:p>
          <a:p>
            <a:pPr algn="l">
              <a:spcBef>
                <a:spcPts val="0"/>
              </a:spcBef>
              <a:spcAft>
                <a:spcPts val="400"/>
              </a:spcAft>
            </a:pPr>
            <a:r>
              <a:rPr sz="1300" b="0">
                <a:solidFill>
                  <a:srgbClr val="173042"/>
                </a:solidFill>
                <a:latin typeface="Calibri"/>
                <a:ea typeface="Calibri"/>
                <a:cs typeface="Calibri"/>
              </a:rPr>
              <a:t>Tiga hal ini belum tersedia sebagai fitur yang bisa dipakai. Saya sebutkan sebagai contoh di dalam pendampingan, bukan sebagai daftar yang harus disetujui. Rencana perawatan yang berlanjut antar kunjungan belum ada. Kode KFA bisa diketik manual, tetapi katalognya belum tersinkron. Tiket bantuan di dalam aplikasi juga belum berjalan. KlinikDent.id membuka kerja sama pendampingan untuk menyesuaikan kebutuhan klinik. Mana yang dikerjakan, kita tentukan bersama.</a:t>
            </a:r>
          </a:p>
          <a:p>
            <a:pPr algn="l">
              <a:spcBef>
                <a:spcPts val="800"/>
              </a:spcBef>
              <a:spcAft>
                <a:spcPts val="200"/>
              </a:spcAft>
            </a:pPr>
            <a:r>
              <a:rPr sz="1500" b="1">
                <a:solidFill>
                  <a:srgbClr val="0E7C86"/>
                </a:solidFill>
                <a:latin typeface="Calibri"/>
                <a:ea typeface="Calibri"/>
                <a:cs typeface="Calibri"/>
              </a:rPr>
              <a:t>TRANSISI</a:t>
            </a:r>
          </a:p>
          <a:p>
            <a:pPr algn="l">
              <a:spcBef>
                <a:spcPts val="0"/>
              </a:spcBef>
              <a:spcAft>
                <a:spcPts val="400"/>
              </a:spcAft>
            </a:pPr>
            <a:r>
              <a:rPr sz="1300" b="0">
                <a:solidFill>
                  <a:srgbClr val="173042"/>
                </a:solidFill>
                <a:latin typeface="Calibri"/>
                <a:ea typeface="Calibri"/>
                <a:cs typeface="Calibri"/>
              </a:rPr>
              <a:t>Supaya pertemuan ini menghasilkan langkah yang konkret, saya usulkan empat tindak lanjut.</a:t>
            </a:r>
          </a:p>
          <a:p>
            <a:pPr algn="l">
              <a:spcBef>
                <a:spcPts val="800"/>
              </a:spcBef>
              <a:spcAft>
                <a:spcPts val="200"/>
              </a:spcAft>
            </a:pPr>
            <a:r>
              <a:rPr sz="1500" b="1">
                <a:solidFill>
                  <a:srgbClr val="0E7C86"/>
                </a:solidFill>
                <a:latin typeface="Calibri"/>
                <a:ea typeface="Calibri"/>
                <a:cs typeface="Calibri"/>
              </a:rPr>
              <a:t>PERTANYAAN</a:t>
            </a:r>
          </a:p>
          <a:p>
            <a:pPr algn="l">
              <a:spcBef>
                <a:spcPts val="0"/>
              </a:spcBef>
              <a:spcAft>
                <a:spcPts val="400"/>
              </a:spcAft>
            </a:pPr>
            <a:r>
              <a:rPr sz="1300" b="0">
                <a:solidFill>
                  <a:srgbClr val="173042"/>
                </a:solidFill>
                <a:latin typeface="Calibri"/>
                <a:ea typeface="Calibri"/>
                <a:cs typeface="Calibri"/>
              </a:rPr>
              <a:t>Bacakan tiga pertanyaan di slide, lalu diam sejenak. Catat jawaban dengan bahasa klinik, bukan bahasa sistem. Jangan memaksa ketiga kandidat menjadi prioritas.</a:t>
            </a:r>
          </a:p>
          <a:p>
            <a:pPr algn="l">
              <a:spcBef>
                <a:spcPts val="800"/>
              </a:spcBef>
              <a:spcAft>
                <a:spcPts val="200"/>
              </a:spcAft>
            </a:pPr>
            <a:r>
              <a:rPr sz="1500" b="1">
                <a:solidFill>
                  <a:srgbClr val="0E7C86"/>
                </a:solidFill>
                <a:latin typeface="Calibri"/>
                <a:ea typeface="Calibri"/>
                <a:cs typeface="Calibri"/>
              </a:rPr>
              <a:t>DEMO</a:t>
            </a:r>
          </a:p>
          <a:p>
            <a:pPr algn="l">
              <a:spcBef>
                <a:spcPts val="0"/>
              </a:spcBef>
              <a:spcAft>
                <a:spcPts val="400"/>
              </a:spcAft>
            </a:pPr>
            <a:r>
              <a:rPr sz="1300" b="0">
                <a:solidFill>
                  <a:srgbClr val="173042"/>
                </a:solidFill>
                <a:latin typeface="Calibri"/>
                <a:ea typeface="Calibri"/>
                <a:cs typeface="Calibri"/>
              </a:rPr>
              <a:t>Tidak ada demo. Jangan membuka halaman tiket: menu itu masih halaman kosong.</a:t>
            </a:r>
          </a:p>
          <a:p>
            <a:pPr algn="l">
              <a:spcBef>
                <a:spcPts val="800"/>
              </a:spcBef>
              <a:spcAft>
                <a:spcPts val="200"/>
              </a:spcAft>
            </a:pPr>
            <a:r>
              <a:rPr sz="1500" b="1">
                <a:solidFill>
                  <a:srgbClr val="0E7C86"/>
                </a:solidFill>
                <a:latin typeface="Calibri"/>
                <a:ea typeface="Calibri"/>
                <a:cs typeface="Calibri"/>
              </a:rPr>
              <a:t>VERIFIKASI</a:t>
            </a:r>
          </a:p>
          <a:p>
            <a:pPr algn="l">
              <a:spcBef>
                <a:spcPts val="0"/>
              </a:spcBef>
              <a:spcAft>
                <a:spcPts val="400"/>
              </a:spcAft>
            </a:pPr>
            <a:r>
              <a:rPr sz="1300" b="0">
                <a:solidFill>
                  <a:srgbClr val="173042"/>
                </a:solidFill>
                <a:latin typeface="Calibri"/>
                <a:ea typeface="Calibri"/>
                <a:cs typeface="Calibri"/>
              </a:rPr>
              <a:t>Jangan mengatakan fitur ini sedang dikerjakan atau punya tanggal rilis. Durasi sekitar 1 menit.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Bef>
                <a:spcPts val="0"/>
              </a:spcBef>
              <a:spcAft>
                <a:spcPts val="200"/>
              </a:spcAft>
            </a:pPr>
            <a:r>
              <a:rPr sz="1500" b="1">
                <a:solidFill>
                  <a:srgbClr val="0E7C86"/>
                </a:solidFill>
                <a:latin typeface="Calibri"/>
                <a:ea typeface="Calibri"/>
                <a:cs typeface="Calibri"/>
              </a:rPr>
              <a:t>TUJUAN</a:t>
            </a:r>
          </a:p>
          <a:p>
            <a:pPr algn="l">
              <a:spcBef>
                <a:spcPts val="0"/>
              </a:spcBef>
              <a:spcAft>
                <a:spcPts val="400"/>
              </a:spcAft>
            </a:pPr>
            <a:r>
              <a:rPr sz="1300" b="0">
                <a:solidFill>
                  <a:srgbClr val="173042"/>
                </a:solidFill>
                <a:latin typeface="Calibri"/>
                <a:ea typeface="Calibri"/>
                <a:cs typeface="Calibri"/>
              </a:rPr>
              <a:t>Pertemuan ditutup dengan empat langkah kerja, bukan dengan permintaan menyetujui seluruh fitur.</a:t>
            </a:r>
          </a:p>
          <a:p>
            <a:pPr algn="l">
              <a:spcBef>
                <a:spcPts val="800"/>
              </a:spcBef>
              <a:spcAft>
                <a:spcPts val="200"/>
              </a:spcAft>
            </a:pPr>
            <a:r>
              <a:rPr sz="1500" b="1">
                <a:solidFill>
                  <a:srgbClr val="0E7C86"/>
                </a:solidFill>
                <a:latin typeface="Calibri"/>
                <a:ea typeface="Calibri"/>
                <a:cs typeface="Calibri"/>
              </a:rPr>
              <a:t>NASKAH</a:t>
            </a:r>
          </a:p>
          <a:p>
            <a:pPr algn="l">
              <a:spcBef>
                <a:spcPts val="0"/>
              </a:spcBef>
              <a:spcAft>
                <a:spcPts val="400"/>
              </a:spcAft>
            </a:pPr>
            <a:r>
              <a:rPr sz="1300" b="0">
                <a:solidFill>
                  <a:srgbClr val="173042"/>
                </a:solidFill>
                <a:latin typeface="Calibri"/>
                <a:ea typeface="Calibri"/>
                <a:cs typeface="Calibri"/>
              </a:rPr>
              <a:t>Saya usulkan kita tidak menutup pertemuan dengan daftar fitur. Empat langkahnya sederhana. Pertama, pilih maksimal tiga kebutuhan yang benar-benar prioritas. Kedua, tunjuk satu PIC dari klinik. Ketiga, kita jadwalkan diskusi teknis 30 menit. Keempat, setelah kebutuhan itu dianalisis, baru disusun ruang lingkup, hasil kerja, biaya, dan estimasi waktu. KlinikDent.id membuka kerja sama pendampingan untuk menyesuaikan kebutuhan klinik, berdasarkan prioritas yang disepakati bersama.</a:t>
            </a:r>
          </a:p>
          <a:p>
            <a:pPr algn="l">
              <a:spcBef>
                <a:spcPts val="800"/>
              </a:spcBef>
              <a:spcAft>
                <a:spcPts val="200"/>
              </a:spcAft>
            </a:pPr>
            <a:r>
              <a:rPr sz="1500" b="1">
                <a:solidFill>
                  <a:srgbClr val="0E7C86"/>
                </a:solidFill>
                <a:latin typeface="Calibri"/>
                <a:ea typeface="Calibri"/>
                <a:cs typeface="Calibri"/>
              </a:rPr>
              <a:t>TRANSISI</a:t>
            </a:r>
          </a:p>
          <a:p>
            <a:pPr algn="l">
              <a:spcBef>
                <a:spcPts val="0"/>
              </a:spcBef>
              <a:spcAft>
                <a:spcPts val="400"/>
              </a:spcAft>
            </a:pPr>
            <a:r>
              <a:rPr sz="1300" b="0">
                <a:solidFill>
                  <a:srgbClr val="173042"/>
                </a:solidFill>
                <a:latin typeface="Calibri"/>
                <a:ea typeface="Calibri"/>
                <a:cs typeface="Calibri"/>
              </a:rPr>
              <a:t>Tidak ada slide berikutnya. Akhiri dengan meminta nama PIC dan dua atau tiga proses yang paling ingin dibereskan.</a:t>
            </a:r>
          </a:p>
          <a:p>
            <a:pPr algn="l">
              <a:spcBef>
                <a:spcPts val="800"/>
              </a:spcBef>
              <a:spcAft>
                <a:spcPts val="200"/>
              </a:spcAft>
            </a:pPr>
            <a:r>
              <a:rPr sz="1500" b="1">
                <a:solidFill>
                  <a:srgbClr val="0E7C86"/>
                </a:solidFill>
                <a:latin typeface="Calibri"/>
                <a:ea typeface="Calibri"/>
                <a:cs typeface="Calibri"/>
              </a:rPr>
              <a:t>PERTANYAAN</a:t>
            </a:r>
          </a:p>
          <a:p>
            <a:pPr algn="l">
              <a:spcBef>
                <a:spcPts val="0"/>
              </a:spcBef>
              <a:spcAft>
                <a:spcPts val="400"/>
              </a:spcAft>
            </a:pPr>
            <a:r>
              <a:rPr sz="1300" b="0">
                <a:solidFill>
                  <a:srgbClr val="173042"/>
                </a:solidFill>
                <a:latin typeface="Calibri"/>
                <a:ea typeface="Calibri"/>
                <a:cs typeface="Calibri"/>
              </a:rPr>
              <a:t>Siapa yang tepat menjadi PIC, dan kapan 30 menit diskusi lanjutan bisa dilakukan?</a:t>
            </a:r>
          </a:p>
          <a:p>
            <a:pPr algn="l">
              <a:spcBef>
                <a:spcPts val="800"/>
              </a:spcBef>
              <a:spcAft>
                <a:spcPts val="200"/>
              </a:spcAft>
            </a:pPr>
            <a:r>
              <a:rPr sz="1500" b="1">
                <a:solidFill>
                  <a:srgbClr val="0E7C86"/>
                </a:solidFill>
                <a:latin typeface="Calibri"/>
                <a:ea typeface="Calibri"/>
                <a:cs typeface="Calibri"/>
              </a:rPr>
              <a:t>DEMO</a:t>
            </a:r>
          </a:p>
          <a:p>
            <a:pPr algn="l">
              <a:spcBef>
                <a:spcPts val="0"/>
              </a:spcBef>
              <a:spcAft>
                <a:spcPts val="400"/>
              </a:spcAft>
            </a:pPr>
            <a:r>
              <a:rPr sz="1300" b="0">
                <a:solidFill>
                  <a:srgbClr val="173042"/>
                </a:solidFill>
                <a:latin typeface="Calibri"/>
                <a:ea typeface="Calibri"/>
                <a:cs typeface="Calibri"/>
              </a:rPr>
              <a:t>Tidak ada. Jika masih ada waktu, kembali ke satu layar yang tadi paling relevan bagi audiens, bukan menambah fitur baru.</a:t>
            </a:r>
          </a:p>
          <a:p>
            <a:pPr algn="l">
              <a:spcBef>
                <a:spcPts val="800"/>
              </a:spcBef>
              <a:spcAft>
                <a:spcPts val="200"/>
              </a:spcAft>
            </a:pPr>
            <a:r>
              <a:rPr sz="1500" b="1">
                <a:solidFill>
                  <a:srgbClr val="0E7C86"/>
                </a:solidFill>
                <a:latin typeface="Calibri"/>
                <a:ea typeface="Calibri"/>
                <a:cs typeface="Calibri"/>
              </a:rPr>
              <a:t>VERIFIKASI</a:t>
            </a:r>
          </a:p>
          <a:p>
            <a:pPr algn="l">
              <a:spcBef>
                <a:spcPts val="0"/>
              </a:spcBef>
              <a:spcAft>
                <a:spcPts val="400"/>
              </a:spcAft>
            </a:pPr>
            <a:r>
              <a:rPr sz="1300" b="0">
                <a:solidFill>
                  <a:srgbClr val="173042"/>
                </a:solidFill>
                <a:latin typeface="Calibri"/>
                <a:ea typeface="Calibri"/>
                <a:cs typeface="Calibri"/>
              </a:rPr>
              <a:t>Jangan menyebutkan harga, tanggal rilis, atau nama pelanggan. Jangan meminta persetujuan atas semua modul. Durasi sekitar 1 menit.</a:t>
            </a:r>
          </a:p>
          <a:p>
            <a:pPr algn="l">
              <a:spcBef>
                <a:spcPts val="800"/>
              </a:spcBef>
              <a:spcAft>
                <a:spcPts val="200"/>
              </a:spcAft>
            </a:pPr>
            <a:r>
              <a:rPr sz="1500" b="1">
                <a:solidFill>
                  <a:srgbClr val="0E7C86"/>
                </a:solidFill>
                <a:latin typeface="Calibri"/>
                <a:ea typeface="Calibri"/>
                <a:cs typeface="Calibri"/>
              </a:rPr>
              <a:t>CATATAN PENGGANTIAN GAMBAR</a:t>
            </a:r>
          </a:p>
          <a:p>
            <a:pPr algn="l">
              <a:spcBef>
                <a:spcPts val="0"/>
              </a:spcBef>
              <a:spcAft>
                <a:spcPts val="400"/>
              </a:spcAft>
            </a:pPr>
            <a:r>
              <a:rPr sz="1300" b="0">
                <a:solidFill>
                  <a:srgbClr val="173042"/>
                </a:solidFill>
                <a:latin typeface="Calibri"/>
                <a:ea typeface="Calibri"/>
                <a:cs typeface="Calibri"/>
              </a:rPr>
              <a:t>Objek gambar bernama SCREENSHOT_01, SCREENSHOT_02, SCREENSHOT_05, dan SCREENSHOT_06. Klik kanan objek itu, pilih Ubah Gambar, lalu pilih tangkapan layar asli. Judul dan deskripsi di bawahnya adalah teks terpisah — jangan dihapus. Jangan mengganti seluruh slide menjadi satu gambar.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4773168" cy="6858000"/>
          </a:xfrm>
          <a:prstGeom prst="rect">
            <a:avLst/>
          </a:prstGeom>
          <a:solidFill>
            <a:srgbClr val="0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73168" y="0"/>
            <a:ext cx="64008" cy="68580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0624" y="1572768"/>
            <a:ext cx="4023360" cy="292608"/>
          </a:xfrm>
          <a:prstGeom prst="rect">
            <a:avLst/>
          </a:prstGeom>
          <a:noFill/>
        </p:spPr>
        <p:txBody>
          <a:bodyPr wrap="square" lIns="18288" tIns="0" rIns="18288" bIns="0" anchor="t"/>
          <a:lstStyle/>
          <a:p>
            <a:pPr algn="l">
              <a:lnSpc>
                <a:spcPct val="105000"/>
              </a:lnSpc>
              <a:spcBef>
                <a:spcPts val="0"/>
              </a:spcBef>
              <a:spcAft>
                <a:spcPts val="0"/>
              </a:spcAft>
            </a:pPr>
            <a:r>
              <a:rPr sz="1200" b="1" spc="140">
                <a:solidFill>
                  <a:srgbClr val="0E7C86"/>
                </a:solidFill>
                <a:latin typeface="Calibri"/>
                <a:ea typeface="Calibri"/>
                <a:cs typeface="Calibri"/>
              </a:rPr>
              <a:t>SISTEM INFORMASI KLINIK GIGI</a:t>
            </a:r>
          </a:p>
        </p:txBody>
      </p:sp>
      <p:sp>
        <p:nvSpPr>
          <p:cNvPr id="5" name="TextBox 4"/>
          <p:cNvSpPr txBox="1"/>
          <p:nvPr/>
        </p:nvSpPr>
        <p:spPr>
          <a:xfrm>
            <a:off x="420624" y="1938528"/>
            <a:ext cx="4114800" cy="640080"/>
          </a:xfrm>
          <a:prstGeom prst="rect">
            <a:avLst/>
          </a:prstGeom>
          <a:noFill/>
        </p:spPr>
        <p:txBody>
          <a:bodyPr wrap="square" lIns="18288" tIns="0" rIns="18288" bIns="0" anchor="t"/>
          <a:lstStyle/>
          <a:p>
            <a:pPr algn="l">
              <a:lnSpc>
                <a:spcPct val="105000"/>
              </a:lnSpc>
              <a:spcBef>
                <a:spcPts val="0"/>
              </a:spcBef>
              <a:spcAft>
                <a:spcPts val="0"/>
              </a:spcAft>
            </a:pPr>
            <a:r>
              <a:rPr sz="3600" b="1">
                <a:solidFill>
                  <a:srgbClr val="FFFFFF"/>
                </a:solidFill>
                <a:latin typeface="Calibri"/>
                <a:ea typeface="Calibri"/>
                <a:cs typeface="Calibri"/>
              </a:rPr>
              <a:t>KlinikDent.id</a:t>
            </a:r>
          </a:p>
        </p:txBody>
      </p:sp>
      <p:sp>
        <p:nvSpPr>
          <p:cNvPr id="6" name="Rectangle 5"/>
          <p:cNvSpPr/>
          <p:nvPr/>
        </p:nvSpPr>
        <p:spPr>
          <a:xfrm>
            <a:off x="438912" y="2697480"/>
            <a:ext cx="1051560" cy="41148"/>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0624" y="2926080"/>
            <a:ext cx="4023360" cy="1234440"/>
          </a:xfrm>
          <a:prstGeom prst="rect">
            <a:avLst/>
          </a:prstGeom>
          <a:noFill/>
        </p:spPr>
        <p:txBody>
          <a:bodyPr wrap="square" lIns="18288" tIns="0" rIns="18288" bIns="0" anchor="t"/>
          <a:lstStyle/>
          <a:p>
            <a:pPr algn="l">
              <a:lnSpc>
                <a:spcPct val="115000"/>
              </a:lnSpc>
              <a:spcBef>
                <a:spcPts val="0"/>
              </a:spcBef>
              <a:spcAft>
                <a:spcPts val="0"/>
              </a:spcAft>
            </a:pPr>
            <a:r>
              <a:rPr sz="1600" b="0">
                <a:solidFill>
                  <a:srgbClr val="D6E4EE"/>
                </a:solidFill>
                <a:latin typeface="Calibri"/>
                <a:ea typeface="Calibri"/>
                <a:cs typeface="Calibri"/>
              </a:rPr>
              <a:t>Sistem untuk mendukung pelayanan, operasional, keuangan, dan farmasi klinik gigi.</a:t>
            </a:r>
          </a:p>
        </p:txBody>
      </p:sp>
      <p:sp>
        <p:nvSpPr>
          <p:cNvPr id="8" name="TextBox 7"/>
          <p:cNvSpPr txBox="1"/>
          <p:nvPr/>
        </p:nvSpPr>
        <p:spPr>
          <a:xfrm>
            <a:off x="420624" y="5440680"/>
            <a:ext cx="4023360" cy="256032"/>
          </a:xfrm>
          <a:prstGeom prst="rect">
            <a:avLst/>
          </a:prstGeom>
          <a:noFill/>
        </p:spPr>
        <p:txBody>
          <a:bodyPr wrap="square" lIns="18288" tIns="0" rIns="18288" bIns="0" anchor="t"/>
          <a:lstStyle/>
          <a:p>
            <a:pPr algn="l">
              <a:lnSpc>
                <a:spcPct val="105000"/>
              </a:lnSpc>
              <a:spcBef>
                <a:spcPts val="0"/>
              </a:spcBef>
              <a:spcAft>
                <a:spcPts val="0"/>
              </a:spcAft>
            </a:pPr>
            <a:r>
              <a:rPr sz="1400" b="1">
                <a:solidFill>
                  <a:srgbClr val="FFFFFF"/>
                </a:solidFill>
                <a:latin typeface="Calibri"/>
                <a:ea typeface="Calibri"/>
                <a:cs typeface="Calibri"/>
              </a:rPr>
              <a:t>Kerja sama pendampingan</a:t>
            </a:r>
          </a:p>
        </p:txBody>
      </p:sp>
      <p:sp>
        <p:nvSpPr>
          <p:cNvPr id="9" name="TextBox 8"/>
          <p:cNvSpPr txBox="1"/>
          <p:nvPr/>
        </p:nvSpPr>
        <p:spPr>
          <a:xfrm>
            <a:off x="420624" y="5742432"/>
            <a:ext cx="4023360" cy="502920"/>
          </a:xfrm>
          <a:prstGeom prst="rect">
            <a:avLst/>
          </a:prstGeom>
          <a:noFill/>
        </p:spPr>
        <p:txBody>
          <a:bodyPr wrap="square" lIns="18288" tIns="0" rIns="18288" bIns="0" anchor="t"/>
          <a:lstStyle/>
          <a:p>
            <a:pPr algn="l">
              <a:lnSpc>
                <a:spcPct val="105000"/>
              </a:lnSpc>
              <a:spcBef>
                <a:spcPts val="0"/>
              </a:spcBef>
              <a:spcAft>
                <a:spcPts val="0"/>
              </a:spcAft>
            </a:pPr>
            <a:r>
              <a:rPr sz="1300" b="0">
                <a:solidFill>
                  <a:srgbClr val="D6E4EE"/>
                </a:solidFill>
                <a:latin typeface="Calibri"/>
                <a:ea typeface="Calibri"/>
                <a:cs typeface="Calibri"/>
              </a:rPr>
              <a:t>Untuk menyesuaikan kebutuhan klinik.</a:t>
            </a:r>
          </a:p>
        </p:txBody>
      </p:sp>
      <p:sp>
        <p:nvSpPr>
          <p:cNvPr id="10" name="TextBox 9"/>
          <p:cNvSpPr txBox="1"/>
          <p:nvPr/>
        </p:nvSpPr>
        <p:spPr>
          <a:xfrm>
            <a:off x="420624" y="6291072"/>
            <a:ext cx="4023360" cy="256032"/>
          </a:xfrm>
          <a:prstGeom prst="rect">
            <a:avLst/>
          </a:prstGeom>
          <a:noFill/>
        </p:spPr>
        <p:txBody>
          <a:bodyPr wrap="square" lIns="18288" tIns="0" rIns="18288" bIns="0" anchor="t"/>
          <a:lstStyle/>
          <a:p>
            <a:pPr algn="l">
              <a:lnSpc>
                <a:spcPct val="105000"/>
              </a:lnSpc>
              <a:spcBef>
                <a:spcPts val="0"/>
              </a:spcBef>
              <a:spcAft>
                <a:spcPts val="0"/>
              </a:spcAft>
            </a:pPr>
            <a:r>
              <a:rPr sz="1300" b="0">
                <a:solidFill>
                  <a:srgbClr val="8AA0B0"/>
                </a:solidFill>
                <a:latin typeface="Calibri"/>
                <a:ea typeface="Calibri"/>
                <a:cs typeface="Calibri"/>
              </a:rPr>
              <a:t>10 menit, termasuk demo singkat</a:t>
            </a:r>
          </a:p>
        </p:txBody>
      </p:sp>
      <p:sp>
        <p:nvSpPr>
          <p:cNvPr id="11" name="TextBox 10"/>
          <p:cNvSpPr txBox="1"/>
          <p:nvPr/>
        </p:nvSpPr>
        <p:spPr>
          <a:xfrm>
            <a:off x="5138928" y="384048"/>
            <a:ext cx="6583680" cy="274320"/>
          </a:xfrm>
          <a:prstGeom prst="rect">
            <a:avLst/>
          </a:prstGeom>
          <a:noFill/>
        </p:spPr>
        <p:txBody>
          <a:bodyPr wrap="square" lIns="18288" tIns="0" rIns="18288" bIns="0" anchor="t"/>
          <a:lstStyle/>
          <a:p>
            <a:pPr algn="l">
              <a:lnSpc>
                <a:spcPct val="105000"/>
              </a:lnSpc>
              <a:spcBef>
                <a:spcPts val="0"/>
              </a:spcBef>
              <a:spcAft>
                <a:spcPts val="0"/>
              </a:spcAft>
            </a:pPr>
            <a:r>
              <a:rPr sz="1200" b="1" spc="120">
                <a:solidFill>
                  <a:srgbClr val="0E7C86"/>
                </a:solidFill>
                <a:latin typeface="Calibri"/>
                <a:ea typeface="Calibri"/>
                <a:cs typeface="Calibri"/>
              </a:rPr>
              <a:t>EMPAT AREA UTAMA</a:t>
            </a:r>
          </a:p>
        </p:txBody>
      </p:sp>
      <p:sp>
        <p:nvSpPr>
          <p:cNvPr id="12" name="Rounded Rectangle 11"/>
          <p:cNvSpPr/>
          <p:nvPr/>
        </p:nvSpPr>
        <p:spPr>
          <a:xfrm>
            <a:off x="5138928" y="868680"/>
            <a:ext cx="3200400" cy="2514600"/>
          </a:xfrm>
          <a:prstGeom prst="roundRect">
            <a:avLst>
              <a:gd name="adj" fmla="val 8000"/>
            </a:avLst>
          </a:prstGeom>
          <a:solidFill>
            <a:srgbClr val="FFFFFF"/>
          </a:solidFill>
          <a:ln>
            <a:noFill/>
          </a:ln>
          <a:effectLst>
            <a:outerShdw blurRad="63500" dist="25400" dir="2700000" algn="tl" rotWithShape="0">
              <a:srgbClr val="0B2E4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340096" y="1069848"/>
            <a:ext cx="384048" cy="384048"/>
          </a:xfrm>
          <a:prstGeom prst="ellipse">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40096" y="1069848"/>
            <a:ext cx="384048" cy="384048"/>
          </a:xfrm>
          <a:prstGeom prst="rect">
            <a:avLst/>
          </a:prstGeom>
          <a:noFill/>
        </p:spPr>
        <p:txBody>
          <a:bodyPr wrap="square" lIns="18288" tIns="0" rIns="18288" bIns="0" anchor="ctr"/>
          <a:lstStyle/>
          <a:p>
            <a:pPr algn="ctr">
              <a:lnSpc>
                <a:spcPct val="105000"/>
              </a:lnSpc>
              <a:spcBef>
                <a:spcPts val="0"/>
              </a:spcBef>
              <a:spcAft>
                <a:spcPts val="0"/>
              </a:spcAft>
            </a:pPr>
            <a:r>
              <a:rPr sz="1100" b="1">
                <a:solidFill>
                  <a:srgbClr val="FFFFFF"/>
                </a:solidFill>
                <a:latin typeface="Calibri"/>
                <a:ea typeface="Calibri"/>
                <a:cs typeface="Calibri"/>
              </a:rPr>
              <a:t>01</a:t>
            </a:r>
          </a:p>
        </p:txBody>
      </p:sp>
      <p:sp>
        <p:nvSpPr>
          <p:cNvPr id="15" name="TextBox 14"/>
          <p:cNvSpPr txBox="1"/>
          <p:nvPr/>
        </p:nvSpPr>
        <p:spPr>
          <a:xfrm>
            <a:off x="5321808" y="1618488"/>
            <a:ext cx="2834640" cy="640080"/>
          </a:xfrm>
          <a:prstGeom prst="rect">
            <a:avLst/>
          </a:prstGeom>
          <a:noFill/>
        </p:spPr>
        <p:txBody>
          <a:bodyPr wrap="square" lIns="18288" tIns="0" rIns="18288" bIns="0" anchor="t"/>
          <a:lstStyle/>
          <a:p>
            <a:pPr algn="l">
              <a:lnSpc>
                <a:spcPct val="105000"/>
              </a:lnSpc>
              <a:spcBef>
                <a:spcPts val="0"/>
              </a:spcBef>
              <a:spcAft>
                <a:spcPts val="0"/>
              </a:spcAft>
            </a:pPr>
            <a:r>
              <a:rPr sz="1600" b="1">
                <a:solidFill>
                  <a:srgbClr val="0B2E4A"/>
                </a:solidFill>
                <a:latin typeface="Calibri"/>
                <a:ea typeface="Calibri"/>
                <a:cs typeface="Calibri"/>
              </a:rPr>
              <a:t>Pelayanan pasien dan rekam medis</a:t>
            </a:r>
          </a:p>
        </p:txBody>
      </p:sp>
      <p:sp>
        <p:nvSpPr>
          <p:cNvPr id="16" name="TextBox 15"/>
          <p:cNvSpPr txBox="1"/>
          <p:nvPr/>
        </p:nvSpPr>
        <p:spPr>
          <a:xfrm>
            <a:off x="5321808" y="2313432"/>
            <a:ext cx="2834640" cy="868680"/>
          </a:xfrm>
          <a:prstGeom prst="rect">
            <a:avLst/>
          </a:prstGeom>
          <a:noFill/>
        </p:spPr>
        <p:txBody>
          <a:bodyPr wrap="square" lIns="18288" tIns="0" rIns="18288" bIns="0" anchor="t"/>
          <a:lstStyle/>
          <a:p>
            <a:pPr algn="l">
              <a:lnSpc>
                <a:spcPct val="108000"/>
              </a:lnSpc>
              <a:spcBef>
                <a:spcPts val="0"/>
              </a:spcBef>
              <a:spcAft>
                <a:spcPts val="0"/>
              </a:spcAft>
            </a:pPr>
            <a:r>
              <a:rPr sz="1300" b="0">
                <a:solidFill>
                  <a:srgbClr val="5C6D7A"/>
                </a:solidFill>
                <a:latin typeface="Calibri"/>
                <a:ea typeface="Calibri"/>
                <a:cs typeface="Calibri"/>
              </a:rPr>
              <a:t>Pendaftaran, kunjungan, odontogram, diagnosis, tindakan, dan resep.</a:t>
            </a:r>
          </a:p>
        </p:txBody>
      </p:sp>
      <p:sp>
        <p:nvSpPr>
          <p:cNvPr id="17" name="Rounded Rectangle 16"/>
          <p:cNvSpPr/>
          <p:nvPr/>
        </p:nvSpPr>
        <p:spPr>
          <a:xfrm>
            <a:off x="8503920" y="868680"/>
            <a:ext cx="3200400" cy="2514600"/>
          </a:xfrm>
          <a:prstGeom prst="roundRect">
            <a:avLst>
              <a:gd name="adj" fmla="val 8000"/>
            </a:avLst>
          </a:prstGeom>
          <a:solidFill>
            <a:srgbClr val="FFFFFF"/>
          </a:solidFill>
          <a:ln>
            <a:noFill/>
          </a:ln>
          <a:effectLst>
            <a:outerShdw blurRad="63500" dist="25400" dir="2700000" algn="tl" rotWithShape="0">
              <a:srgbClr val="0B2E4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705088" y="1069848"/>
            <a:ext cx="384048" cy="384048"/>
          </a:xfrm>
          <a:prstGeom prst="ellipse">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705088" y="1069848"/>
            <a:ext cx="384048" cy="384048"/>
          </a:xfrm>
          <a:prstGeom prst="rect">
            <a:avLst/>
          </a:prstGeom>
          <a:noFill/>
        </p:spPr>
        <p:txBody>
          <a:bodyPr wrap="square" lIns="18288" tIns="0" rIns="18288" bIns="0" anchor="ctr"/>
          <a:lstStyle/>
          <a:p>
            <a:pPr algn="ctr">
              <a:lnSpc>
                <a:spcPct val="105000"/>
              </a:lnSpc>
              <a:spcBef>
                <a:spcPts val="0"/>
              </a:spcBef>
              <a:spcAft>
                <a:spcPts val="0"/>
              </a:spcAft>
            </a:pPr>
            <a:r>
              <a:rPr sz="1100" b="1">
                <a:solidFill>
                  <a:srgbClr val="FFFFFF"/>
                </a:solidFill>
                <a:latin typeface="Calibri"/>
                <a:ea typeface="Calibri"/>
                <a:cs typeface="Calibri"/>
              </a:rPr>
              <a:t>02</a:t>
            </a:r>
          </a:p>
        </p:txBody>
      </p:sp>
      <p:sp>
        <p:nvSpPr>
          <p:cNvPr id="20" name="TextBox 19"/>
          <p:cNvSpPr txBox="1"/>
          <p:nvPr/>
        </p:nvSpPr>
        <p:spPr>
          <a:xfrm>
            <a:off x="8686800" y="1618488"/>
            <a:ext cx="2834640" cy="640080"/>
          </a:xfrm>
          <a:prstGeom prst="rect">
            <a:avLst/>
          </a:prstGeom>
          <a:noFill/>
        </p:spPr>
        <p:txBody>
          <a:bodyPr wrap="square" lIns="18288" tIns="0" rIns="18288" bIns="0" anchor="t"/>
          <a:lstStyle/>
          <a:p>
            <a:pPr algn="l">
              <a:lnSpc>
                <a:spcPct val="105000"/>
              </a:lnSpc>
              <a:spcBef>
                <a:spcPts val="0"/>
              </a:spcBef>
              <a:spcAft>
                <a:spcPts val="0"/>
              </a:spcAft>
            </a:pPr>
            <a:r>
              <a:rPr sz="1600" b="1">
                <a:solidFill>
                  <a:srgbClr val="0B2E4A"/>
                </a:solidFill>
                <a:latin typeface="Calibri"/>
                <a:ea typeface="Calibri"/>
                <a:cs typeface="Calibri"/>
              </a:rPr>
              <a:t>Operasional klinik</a:t>
            </a:r>
          </a:p>
        </p:txBody>
      </p:sp>
      <p:sp>
        <p:nvSpPr>
          <p:cNvPr id="21" name="TextBox 20"/>
          <p:cNvSpPr txBox="1"/>
          <p:nvPr/>
        </p:nvSpPr>
        <p:spPr>
          <a:xfrm>
            <a:off x="8686800" y="2313432"/>
            <a:ext cx="2834640" cy="868680"/>
          </a:xfrm>
          <a:prstGeom prst="rect">
            <a:avLst/>
          </a:prstGeom>
          <a:noFill/>
        </p:spPr>
        <p:txBody>
          <a:bodyPr wrap="square" lIns="18288" tIns="0" rIns="18288" bIns="0" anchor="t"/>
          <a:lstStyle/>
          <a:p>
            <a:pPr algn="l">
              <a:lnSpc>
                <a:spcPct val="108000"/>
              </a:lnSpc>
              <a:spcBef>
                <a:spcPts val="0"/>
              </a:spcBef>
              <a:spcAft>
                <a:spcPts val="0"/>
              </a:spcAft>
            </a:pPr>
            <a:r>
              <a:rPr sz="1300" b="0">
                <a:solidFill>
                  <a:srgbClr val="5C6D7A"/>
                </a:solidFill>
                <a:latin typeface="Calibri"/>
                <a:ea typeface="Calibri"/>
                <a:cs typeface="Calibri"/>
              </a:rPr>
              <a:t>Dokter, jadwal, ruangan, hak akses, dan dukungan multi-klinik.</a:t>
            </a:r>
          </a:p>
        </p:txBody>
      </p:sp>
      <p:sp>
        <p:nvSpPr>
          <p:cNvPr id="22" name="Rounded Rectangle 21"/>
          <p:cNvSpPr/>
          <p:nvPr/>
        </p:nvSpPr>
        <p:spPr>
          <a:xfrm>
            <a:off x="5138928" y="3566160"/>
            <a:ext cx="3200400" cy="2514600"/>
          </a:xfrm>
          <a:prstGeom prst="roundRect">
            <a:avLst>
              <a:gd name="adj" fmla="val 8000"/>
            </a:avLst>
          </a:prstGeom>
          <a:solidFill>
            <a:srgbClr val="FFFFFF"/>
          </a:solidFill>
          <a:ln>
            <a:noFill/>
          </a:ln>
          <a:effectLst>
            <a:outerShdw blurRad="63500" dist="25400" dir="2700000" algn="tl" rotWithShape="0">
              <a:srgbClr val="0B2E4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340096" y="3767328"/>
            <a:ext cx="384048" cy="384048"/>
          </a:xfrm>
          <a:prstGeom prst="ellipse">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340096" y="3767328"/>
            <a:ext cx="384048" cy="384048"/>
          </a:xfrm>
          <a:prstGeom prst="rect">
            <a:avLst/>
          </a:prstGeom>
          <a:noFill/>
        </p:spPr>
        <p:txBody>
          <a:bodyPr wrap="square" lIns="18288" tIns="0" rIns="18288" bIns="0" anchor="ctr"/>
          <a:lstStyle/>
          <a:p>
            <a:pPr algn="ctr">
              <a:lnSpc>
                <a:spcPct val="105000"/>
              </a:lnSpc>
              <a:spcBef>
                <a:spcPts val="0"/>
              </a:spcBef>
              <a:spcAft>
                <a:spcPts val="0"/>
              </a:spcAft>
            </a:pPr>
            <a:r>
              <a:rPr sz="1100" b="1">
                <a:solidFill>
                  <a:srgbClr val="FFFFFF"/>
                </a:solidFill>
                <a:latin typeface="Calibri"/>
                <a:ea typeface="Calibri"/>
                <a:cs typeface="Calibri"/>
              </a:rPr>
              <a:t>03</a:t>
            </a:r>
          </a:p>
        </p:txBody>
      </p:sp>
      <p:sp>
        <p:nvSpPr>
          <p:cNvPr id="25" name="TextBox 24"/>
          <p:cNvSpPr txBox="1"/>
          <p:nvPr/>
        </p:nvSpPr>
        <p:spPr>
          <a:xfrm>
            <a:off x="5321808" y="4315968"/>
            <a:ext cx="2834640" cy="640080"/>
          </a:xfrm>
          <a:prstGeom prst="rect">
            <a:avLst/>
          </a:prstGeom>
          <a:noFill/>
        </p:spPr>
        <p:txBody>
          <a:bodyPr wrap="square" lIns="18288" tIns="0" rIns="18288" bIns="0" anchor="t"/>
          <a:lstStyle/>
          <a:p>
            <a:pPr algn="l">
              <a:lnSpc>
                <a:spcPct val="105000"/>
              </a:lnSpc>
              <a:spcBef>
                <a:spcPts val="0"/>
              </a:spcBef>
              <a:spcAft>
                <a:spcPts val="0"/>
              </a:spcAft>
            </a:pPr>
            <a:r>
              <a:rPr sz="1600" b="1">
                <a:solidFill>
                  <a:srgbClr val="0B2E4A"/>
                </a:solidFill>
                <a:latin typeface="Calibri"/>
                <a:ea typeface="Calibri"/>
                <a:cs typeface="Calibri"/>
              </a:rPr>
              <a:t>Keuangan</a:t>
            </a:r>
          </a:p>
        </p:txBody>
      </p:sp>
      <p:sp>
        <p:nvSpPr>
          <p:cNvPr id="26" name="TextBox 25"/>
          <p:cNvSpPr txBox="1"/>
          <p:nvPr/>
        </p:nvSpPr>
        <p:spPr>
          <a:xfrm>
            <a:off x="5321808" y="5010912"/>
            <a:ext cx="2834640" cy="868680"/>
          </a:xfrm>
          <a:prstGeom prst="rect">
            <a:avLst/>
          </a:prstGeom>
          <a:noFill/>
        </p:spPr>
        <p:txBody>
          <a:bodyPr wrap="square" lIns="18288" tIns="0" rIns="18288" bIns="0" anchor="t"/>
          <a:lstStyle/>
          <a:p>
            <a:pPr algn="l">
              <a:lnSpc>
                <a:spcPct val="108000"/>
              </a:lnSpc>
              <a:spcBef>
                <a:spcPts val="0"/>
              </a:spcBef>
              <a:spcAft>
                <a:spcPts val="0"/>
              </a:spcAft>
            </a:pPr>
            <a:r>
              <a:rPr sz="1300" b="0">
                <a:solidFill>
                  <a:srgbClr val="5C6D7A"/>
                </a:solidFill>
                <a:latin typeface="Calibri"/>
                <a:ea typeface="Calibri"/>
                <a:cs typeface="Calibri"/>
              </a:rPr>
              <a:t>Tagihan, kasir, pembayaran, dan laporan sesuai fitur yang tersedia.</a:t>
            </a:r>
          </a:p>
        </p:txBody>
      </p:sp>
      <p:sp>
        <p:nvSpPr>
          <p:cNvPr id="27" name="Rounded Rectangle 26"/>
          <p:cNvSpPr/>
          <p:nvPr/>
        </p:nvSpPr>
        <p:spPr>
          <a:xfrm>
            <a:off x="8503920" y="3566160"/>
            <a:ext cx="3200400" cy="2514600"/>
          </a:xfrm>
          <a:prstGeom prst="roundRect">
            <a:avLst>
              <a:gd name="adj" fmla="val 8000"/>
            </a:avLst>
          </a:prstGeom>
          <a:solidFill>
            <a:srgbClr val="FFFFFF"/>
          </a:solidFill>
          <a:ln>
            <a:noFill/>
          </a:ln>
          <a:effectLst>
            <a:outerShdw blurRad="63500" dist="25400" dir="2700000" algn="tl" rotWithShape="0">
              <a:srgbClr val="0B2E4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705088" y="3767328"/>
            <a:ext cx="384048" cy="384048"/>
          </a:xfrm>
          <a:prstGeom prst="ellipse">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705088" y="3767328"/>
            <a:ext cx="384048" cy="384048"/>
          </a:xfrm>
          <a:prstGeom prst="rect">
            <a:avLst/>
          </a:prstGeom>
          <a:noFill/>
        </p:spPr>
        <p:txBody>
          <a:bodyPr wrap="square" lIns="18288" tIns="0" rIns="18288" bIns="0" anchor="ctr"/>
          <a:lstStyle/>
          <a:p>
            <a:pPr algn="ctr">
              <a:lnSpc>
                <a:spcPct val="105000"/>
              </a:lnSpc>
              <a:spcBef>
                <a:spcPts val="0"/>
              </a:spcBef>
              <a:spcAft>
                <a:spcPts val="0"/>
              </a:spcAft>
            </a:pPr>
            <a:r>
              <a:rPr sz="1100" b="1">
                <a:solidFill>
                  <a:srgbClr val="FFFFFF"/>
                </a:solidFill>
                <a:latin typeface="Calibri"/>
                <a:ea typeface="Calibri"/>
                <a:cs typeface="Calibri"/>
              </a:rPr>
              <a:t>04</a:t>
            </a:r>
          </a:p>
        </p:txBody>
      </p:sp>
      <p:sp>
        <p:nvSpPr>
          <p:cNvPr id="30" name="TextBox 29"/>
          <p:cNvSpPr txBox="1"/>
          <p:nvPr/>
        </p:nvSpPr>
        <p:spPr>
          <a:xfrm>
            <a:off x="8686800" y="4315968"/>
            <a:ext cx="2834640" cy="640080"/>
          </a:xfrm>
          <a:prstGeom prst="rect">
            <a:avLst/>
          </a:prstGeom>
          <a:noFill/>
        </p:spPr>
        <p:txBody>
          <a:bodyPr wrap="square" lIns="18288" tIns="0" rIns="18288" bIns="0" anchor="t"/>
          <a:lstStyle/>
          <a:p>
            <a:pPr algn="l">
              <a:lnSpc>
                <a:spcPct val="105000"/>
              </a:lnSpc>
              <a:spcBef>
                <a:spcPts val="0"/>
              </a:spcBef>
              <a:spcAft>
                <a:spcPts val="0"/>
              </a:spcAft>
            </a:pPr>
            <a:r>
              <a:rPr sz="1600" b="1">
                <a:solidFill>
                  <a:srgbClr val="0B2E4A"/>
                </a:solidFill>
                <a:latin typeface="Calibri"/>
                <a:ea typeface="Calibri"/>
                <a:cs typeface="Calibri"/>
              </a:rPr>
              <a:t>Farmasi dan fitur pendukung</a:t>
            </a:r>
          </a:p>
        </p:txBody>
      </p:sp>
      <p:sp>
        <p:nvSpPr>
          <p:cNvPr id="31" name="TextBox 30"/>
          <p:cNvSpPr txBox="1"/>
          <p:nvPr/>
        </p:nvSpPr>
        <p:spPr>
          <a:xfrm>
            <a:off x="8686800" y="5010912"/>
            <a:ext cx="2834640" cy="868680"/>
          </a:xfrm>
          <a:prstGeom prst="rect">
            <a:avLst/>
          </a:prstGeom>
          <a:noFill/>
        </p:spPr>
        <p:txBody>
          <a:bodyPr wrap="square" lIns="18288" tIns="0" rIns="18288" bIns="0" anchor="t"/>
          <a:lstStyle/>
          <a:p>
            <a:pPr algn="l">
              <a:lnSpc>
                <a:spcPct val="108000"/>
              </a:lnSpc>
              <a:spcBef>
                <a:spcPts val="0"/>
              </a:spcBef>
              <a:spcAft>
                <a:spcPts val="0"/>
              </a:spcAft>
            </a:pPr>
            <a:r>
              <a:rPr sz="1300" b="0">
                <a:solidFill>
                  <a:srgbClr val="5C6D7A"/>
                </a:solidFill>
                <a:latin typeface="Calibri"/>
                <a:ea typeface="Calibri"/>
                <a:cs typeface="Calibri"/>
              </a:rPr>
              <a:t>Stok obat, pengadaan, serta dukungan yang disesuaikan bersama klinik.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201168"/>
            <a:ext cx="11338560" cy="438912"/>
          </a:xfrm>
          <a:prstGeom prst="rect">
            <a:avLst/>
          </a:prstGeom>
          <a:noFill/>
        </p:spPr>
        <p:txBody>
          <a:bodyPr wrap="square" lIns="18288" tIns="0" rIns="18288" bIns="0" anchor="t"/>
          <a:lstStyle/>
          <a:p>
            <a:pPr algn="l">
              <a:lnSpc>
                <a:spcPct val="105000"/>
              </a:lnSpc>
              <a:spcBef>
                <a:spcPts val="0"/>
              </a:spcBef>
              <a:spcAft>
                <a:spcPts val="0"/>
              </a:spcAft>
            </a:pPr>
            <a:r>
              <a:rPr sz="2600" b="1">
                <a:solidFill>
                  <a:srgbClr val="0B2E4A"/>
                </a:solidFill>
                <a:latin typeface="Calibri"/>
                <a:ea typeface="Calibri"/>
                <a:cs typeface="Calibri"/>
              </a:rPr>
              <a:t>Dari pelayanan pasien hingga pengelolaan klinik</a:t>
            </a:r>
          </a:p>
        </p:txBody>
      </p:sp>
      <p:sp>
        <p:nvSpPr>
          <p:cNvPr id="4" name="Rounded Rectangle 3"/>
          <p:cNvSpPr/>
          <p:nvPr/>
        </p:nvSpPr>
        <p:spPr>
          <a:xfrm>
            <a:off x="365760" y="1115568"/>
            <a:ext cx="2798064" cy="4160520"/>
          </a:xfrm>
          <a:prstGeom prst="roundRect">
            <a:avLst>
              <a:gd name="adj" fmla="val 6000"/>
            </a:avLst>
          </a:prstGeom>
          <a:solidFill>
            <a:srgbClr val="FFFFFF"/>
          </a:solidFill>
          <a:ln>
            <a:noFill/>
          </a:ln>
          <a:effectLst>
            <a:outerShdw blurRad="63500" dist="25400" dir="2700000" algn="tl" rotWithShape="0">
              <a:srgbClr val="0B2E4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115568"/>
            <a:ext cx="2798064" cy="73152"/>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1353312"/>
            <a:ext cx="2468880" cy="384048"/>
          </a:xfrm>
          <a:prstGeom prst="rect">
            <a:avLst/>
          </a:prstGeom>
          <a:noFill/>
        </p:spPr>
        <p:txBody>
          <a:bodyPr wrap="square" lIns="18288" tIns="0" rIns="18288" bIns="0" anchor="t"/>
          <a:lstStyle/>
          <a:p>
            <a:pPr algn="l">
              <a:lnSpc>
                <a:spcPct val="105000"/>
              </a:lnSpc>
              <a:spcBef>
                <a:spcPts val="0"/>
              </a:spcBef>
              <a:spcAft>
                <a:spcPts val="0"/>
              </a:spcAft>
            </a:pPr>
            <a:r>
              <a:rPr sz="1800" b="1">
                <a:solidFill>
                  <a:srgbClr val="0B2E4A"/>
                </a:solidFill>
                <a:latin typeface="Calibri"/>
                <a:ea typeface="Calibri"/>
                <a:cs typeface="Calibri"/>
              </a:rPr>
              <a:t>Pelayanan</a:t>
            </a:r>
          </a:p>
        </p:txBody>
      </p:sp>
      <p:sp>
        <p:nvSpPr>
          <p:cNvPr id="7" name="TextBox 6"/>
          <p:cNvSpPr txBox="1"/>
          <p:nvPr/>
        </p:nvSpPr>
        <p:spPr>
          <a:xfrm>
            <a:off x="512064" y="1965960"/>
            <a:ext cx="2505456" cy="3017520"/>
          </a:xfrm>
          <a:prstGeom prst="rect">
            <a:avLst/>
          </a:prstGeom>
          <a:noFill/>
        </p:spPr>
        <p:txBody>
          <a:bodyPr wrap="square" lIns="18288" tIns="0" rIns="18288" bIns="0" anchor="t"/>
          <a:lstStyle/>
          <a:p>
            <a:pPr algn="l">
              <a:lnSpc>
                <a:spcPct val="105000"/>
              </a:lnSpc>
              <a:spcBef>
                <a:spcPts val="200"/>
              </a:spcBef>
              <a:spcAft>
                <a:spcPts val="0"/>
              </a:spcAft>
            </a:pPr>
            <a:r>
              <a:rPr sz="1400" b="0">
                <a:solidFill>
                  <a:srgbClr val="173042"/>
                </a:solidFill>
                <a:latin typeface="Calibri"/>
                <a:ea typeface="Calibri"/>
                <a:cs typeface="Calibri"/>
              </a:rPr>
              <a:t>–  Pendaftaran dan kunjungan</a:t>
            </a:r>
          </a:p>
          <a:p>
            <a:pPr algn="l">
              <a:lnSpc>
                <a:spcPct val="105000"/>
              </a:lnSpc>
              <a:spcBef>
                <a:spcPts val="1400"/>
              </a:spcBef>
              <a:spcAft>
                <a:spcPts val="0"/>
              </a:spcAft>
            </a:pPr>
            <a:r>
              <a:rPr sz="1400" b="0">
                <a:solidFill>
                  <a:srgbClr val="173042"/>
                </a:solidFill>
                <a:latin typeface="Calibri"/>
                <a:ea typeface="Calibri"/>
                <a:cs typeface="Calibri"/>
              </a:rPr>
              <a:t>–  Rekam medis dan odontogram</a:t>
            </a:r>
          </a:p>
          <a:p>
            <a:pPr algn="l">
              <a:lnSpc>
                <a:spcPct val="105000"/>
              </a:lnSpc>
              <a:spcBef>
                <a:spcPts val="1400"/>
              </a:spcBef>
              <a:spcAft>
                <a:spcPts val="0"/>
              </a:spcAft>
            </a:pPr>
            <a:r>
              <a:rPr sz="1400" b="0">
                <a:solidFill>
                  <a:srgbClr val="173042"/>
                </a:solidFill>
                <a:latin typeface="Calibri"/>
                <a:ea typeface="Calibri"/>
                <a:cs typeface="Calibri"/>
              </a:rPr>
              <a:t>–  Diagnosis, tindakan, dan resep</a:t>
            </a:r>
          </a:p>
          <a:p>
            <a:pPr algn="l">
              <a:lnSpc>
                <a:spcPct val="105000"/>
              </a:lnSpc>
              <a:spcBef>
                <a:spcPts val="1400"/>
              </a:spcBef>
              <a:spcAft>
                <a:spcPts val="0"/>
              </a:spcAft>
            </a:pPr>
            <a:r>
              <a:rPr sz="1400" b="0">
                <a:solidFill>
                  <a:srgbClr val="173042"/>
                </a:solidFill>
                <a:latin typeface="Calibri"/>
                <a:ea typeface="Calibri"/>
                <a:cs typeface="Calibri"/>
              </a:rPr>
              <a:t>–  Rujukan dan instruksi pasien</a:t>
            </a:r>
          </a:p>
        </p:txBody>
      </p:sp>
      <p:sp>
        <p:nvSpPr>
          <p:cNvPr id="8" name="Rounded Rectangle 7"/>
          <p:cNvSpPr/>
          <p:nvPr/>
        </p:nvSpPr>
        <p:spPr>
          <a:xfrm>
            <a:off x="3310128" y="1115568"/>
            <a:ext cx="2798064" cy="4160520"/>
          </a:xfrm>
          <a:prstGeom prst="roundRect">
            <a:avLst>
              <a:gd name="adj" fmla="val 6000"/>
            </a:avLst>
          </a:prstGeom>
          <a:solidFill>
            <a:srgbClr val="FFFFFF"/>
          </a:solidFill>
          <a:ln>
            <a:noFill/>
          </a:ln>
          <a:effectLst>
            <a:outerShdw blurRad="63500" dist="25400" dir="2700000" algn="tl" rotWithShape="0">
              <a:srgbClr val="0B2E4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310128" y="1115568"/>
            <a:ext cx="2798064" cy="73152"/>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0" y="1353312"/>
            <a:ext cx="2468880" cy="384048"/>
          </a:xfrm>
          <a:prstGeom prst="rect">
            <a:avLst/>
          </a:prstGeom>
          <a:noFill/>
        </p:spPr>
        <p:txBody>
          <a:bodyPr wrap="square" lIns="18288" tIns="0" rIns="18288" bIns="0" anchor="t"/>
          <a:lstStyle/>
          <a:p>
            <a:pPr algn="l">
              <a:lnSpc>
                <a:spcPct val="105000"/>
              </a:lnSpc>
              <a:spcBef>
                <a:spcPts val="0"/>
              </a:spcBef>
              <a:spcAft>
                <a:spcPts val="0"/>
              </a:spcAft>
            </a:pPr>
            <a:r>
              <a:rPr sz="1800" b="1">
                <a:solidFill>
                  <a:srgbClr val="0B2E4A"/>
                </a:solidFill>
                <a:latin typeface="Calibri"/>
                <a:ea typeface="Calibri"/>
                <a:cs typeface="Calibri"/>
              </a:rPr>
              <a:t>Operasional</a:t>
            </a:r>
          </a:p>
        </p:txBody>
      </p:sp>
      <p:sp>
        <p:nvSpPr>
          <p:cNvPr id="11" name="TextBox 10"/>
          <p:cNvSpPr txBox="1"/>
          <p:nvPr/>
        </p:nvSpPr>
        <p:spPr>
          <a:xfrm>
            <a:off x="3456432" y="1965960"/>
            <a:ext cx="2505456" cy="3017520"/>
          </a:xfrm>
          <a:prstGeom prst="rect">
            <a:avLst/>
          </a:prstGeom>
          <a:noFill/>
        </p:spPr>
        <p:txBody>
          <a:bodyPr wrap="square" lIns="18288" tIns="0" rIns="18288" bIns="0" anchor="t"/>
          <a:lstStyle/>
          <a:p>
            <a:pPr algn="l">
              <a:lnSpc>
                <a:spcPct val="105000"/>
              </a:lnSpc>
              <a:spcBef>
                <a:spcPts val="200"/>
              </a:spcBef>
              <a:spcAft>
                <a:spcPts val="0"/>
              </a:spcAft>
            </a:pPr>
            <a:r>
              <a:rPr sz="1400" b="0">
                <a:solidFill>
                  <a:srgbClr val="173042"/>
                </a:solidFill>
                <a:latin typeface="Calibri"/>
                <a:ea typeface="Calibri"/>
                <a:cs typeface="Calibri"/>
              </a:rPr>
              <a:t>–  Dokter, jadwal, dan ruangan</a:t>
            </a:r>
          </a:p>
          <a:p>
            <a:pPr algn="l">
              <a:lnSpc>
                <a:spcPct val="105000"/>
              </a:lnSpc>
              <a:spcBef>
                <a:spcPts val="1400"/>
              </a:spcBef>
              <a:spcAft>
                <a:spcPts val="0"/>
              </a:spcAft>
            </a:pPr>
            <a:r>
              <a:rPr sz="1400" b="0">
                <a:solidFill>
                  <a:srgbClr val="173042"/>
                </a:solidFill>
                <a:latin typeface="Calibri"/>
                <a:ea typeface="Calibri"/>
                <a:cs typeface="Calibri"/>
              </a:rPr>
              <a:t>–  Peran dan hak akses</a:t>
            </a:r>
          </a:p>
          <a:p>
            <a:pPr algn="l">
              <a:lnSpc>
                <a:spcPct val="105000"/>
              </a:lnSpc>
              <a:spcBef>
                <a:spcPts val="1400"/>
              </a:spcBef>
              <a:spcAft>
                <a:spcPts val="0"/>
              </a:spcAft>
            </a:pPr>
            <a:r>
              <a:rPr sz="1400" b="0">
                <a:solidFill>
                  <a:srgbClr val="173042"/>
                </a:solidFill>
                <a:latin typeface="Calibri"/>
                <a:ea typeface="Calibri"/>
                <a:cs typeface="Calibri"/>
              </a:rPr>
              <a:t>–  Multi-klinik dan cabang</a:t>
            </a:r>
          </a:p>
          <a:p>
            <a:pPr algn="l">
              <a:lnSpc>
                <a:spcPct val="105000"/>
              </a:lnSpc>
              <a:spcBef>
                <a:spcPts val="1400"/>
              </a:spcBef>
              <a:spcAft>
                <a:spcPts val="0"/>
              </a:spcAft>
            </a:pPr>
            <a:r>
              <a:rPr sz="1400" b="0">
                <a:solidFill>
                  <a:srgbClr val="173042"/>
                </a:solidFill>
                <a:latin typeface="Calibri"/>
                <a:ea typeface="Calibri"/>
                <a:cs typeface="Calibri"/>
              </a:rPr>
              <a:t>–  Dashboard sesuai peran</a:t>
            </a:r>
          </a:p>
        </p:txBody>
      </p:sp>
      <p:sp>
        <p:nvSpPr>
          <p:cNvPr id="12" name="Rounded Rectangle 11"/>
          <p:cNvSpPr/>
          <p:nvPr/>
        </p:nvSpPr>
        <p:spPr>
          <a:xfrm>
            <a:off x="6254496" y="1115568"/>
            <a:ext cx="2798064" cy="4160520"/>
          </a:xfrm>
          <a:prstGeom prst="roundRect">
            <a:avLst>
              <a:gd name="adj" fmla="val 6000"/>
            </a:avLst>
          </a:prstGeom>
          <a:solidFill>
            <a:srgbClr val="FFFFFF"/>
          </a:solidFill>
          <a:ln>
            <a:noFill/>
          </a:ln>
          <a:effectLst>
            <a:outerShdw blurRad="63500" dist="25400" dir="2700000" algn="tl" rotWithShape="0">
              <a:srgbClr val="0B2E4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54496" y="1115568"/>
            <a:ext cx="2798064" cy="73152"/>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19088" y="1353312"/>
            <a:ext cx="2468880" cy="384048"/>
          </a:xfrm>
          <a:prstGeom prst="rect">
            <a:avLst/>
          </a:prstGeom>
          <a:noFill/>
        </p:spPr>
        <p:txBody>
          <a:bodyPr wrap="square" lIns="18288" tIns="0" rIns="18288" bIns="0" anchor="t"/>
          <a:lstStyle/>
          <a:p>
            <a:pPr algn="l">
              <a:lnSpc>
                <a:spcPct val="105000"/>
              </a:lnSpc>
              <a:spcBef>
                <a:spcPts val="0"/>
              </a:spcBef>
              <a:spcAft>
                <a:spcPts val="0"/>
              </a:spcAft>
            </a:pPr>
            <a:r>
              <a:rPr sz="1800" b="1">
                <a:solidFill>
                  <a:srgbClr val="0B2E4A"/>
                </a:solidFill>
                <a:latin typeface="Calibri"/>
                <a:ea typeface="Calibri"/>
                <a:cs typeface="Calibri"/>
              </a:rPr>
              <a:t>Keuangan</a:t>
            </a:r>
          </a:p>
        </p:txBody>
      </p:sp>
      <p:sp>
        <p:nvSpPr>
          <p:cNvPr id="15" name="TextBox 14"/>
          <p:cNvSpPr txBox="1"/>
          <p:nvPr/>
        </p:nvSpPr>
        <p:spPr>
          <a:xfrm>
            <a:off x="6400800" y="1965960"/>
            <a:ext cx="2505456" cy="3017520"/>
          </a:xfrm>
          <a:prstGeom prst="rect">
            <a:avLst/>
          </a:prstGeom>
          <a:noFill/>
        </p:spPr>
        <p:txBody>
          <a:bodyPr wrap="square" lIns="18288" tIns="0" rIns="18288" bIns="0" anchor="t"/>
          <a:lstStyle/>
          <a:p>
            <a:pPr algn="l">
              <a:lnSpc>
                <a:spcPct val="105000"/>
              </a:lnSpc>
              <a:spcBef>
                <a:spcPts val="200"/>
              </a:spcBef>
              <a:spcAft>
                <a:spcPts val="0"/>
              </a:spcAft>
            </a:pPr>
            <a:r>
              <a:rPr sz="1400" b="0">
                <a:solidFill>
                  <a:srgbClr val="173042"/>
                </a:solidFill>
                <a:latin typeface="Calibri"/>
                <a:ea typeface="Calibri"/>
                <a:cs typeface="Calibri"/>
              </a:rPr>
              <a:t>–  Tagihan dan kasir</a:t>
            </a:r>
          </a:p>
          <a:p>
            <a:pPr algn="l">
              <a:lnSpc>
                <a:spcPct val="105000"/>
              </a:lnSpc>
              <a:spcBef>
                <a:spcPts val="1400"/>
              </a:spcBef>
              <a:spcAft>
                <a:spcPts val="0"/>
              </a:spcAft>
            </a:pPr>
            <a:r>
              <a:rPr sz="1400" b="0">
                <a:solidFill>
                  <a:srgbClr val="173042"/>
                </a:solidFill>
                <a:latin typeface="Calibri"/>
                <a:ea typeface="Calibri"/>
                <a:cs typeface="Calibri"/>
              </a:rPr>
              <a:t>–  Tunai, kartu, transfer, QRIS</a:t>
            </a:r>
          </a:p>
          <a:p>
            <a:pPr algn="l">
              <a:lnSpc>
                <a:spcPct val="105000"/>
              </a:lnSpc>
              <a:spcBef>
                <a:spcPts val="1400"/>
              </a:spcBef>
              <a:spcAft>
                <a:spcPts val="0"/>
              </a:spcAft>
            </a:pPr>
            <a:r>
              <a:rPr sz="1400" b="0">
                <a:solidFill>
                  <a:srgbClr val="173042"/>
                </a:solidFill>
                <a:latin typeface="Calibri"/>
                <a:ea typeface="Calibri"/>
                <a:cs typeface="Calibri"/>
              </a:rPr>
              <a:t>–  Shift kasir dan piutang</a:t>
            </a:r>
          </a:p>
          <a:p>
            <a:pPr algn="l">
              <a:lnSpc>
                <a:spcPct val="105000"/>
              </a:lnSpc>
              <a:spcBef>
                <a:spcPts val="1400"/>
              </a:spcBef>
              <a:spcAft>
                <a:spcPts val="0"/>
              </a:spcAft>
            </a:pPr>
            <a:r>
              <a:rPr sz="1400" b="0">
                <a:solidFill>
                  <a:srgbClr val="173042"/>
                </a:solidFill>
                <a:latin typeface="Calibri"/>
                <a:ea typeface="Calibri"/>
                <a:cs typeface="Calibri"/>
              </a:rPr>
              <a:t>–  Pendapatan, arus kas, laba rugi</a:t>
            </a:r>
          </a:p>
        </p:txBody>
      </p:sp>
      <p:sp>
        <p:nvSpPr>
          <p:cNvPr id="16" name="Rounded Rectangle 15"/>
          <p:cNvSpPr/>
          <p:nvPr/>
        </p:nvSpPr>
        <p:spPr>
          <a:xfrm>
            <a:off x="9198864" y="1115568"/>
            <a:ext cx="2798064" cy="4160520"/>
          </a:xfrm>
          <a:prstGeom prst="roundRect">
            <a:avLst>
              <a:gd name="adj" fmla="val 6000"/>
            </a:avLst>
          </a:prstGeom>
          <a:solidFill>
            <a:srgbClr val="FFFFFF"/>
          </a:solidFill>
          <a:ln>
            <a:noFill/>
          </a:ln>
          <a:effectLst>
            <a:outerShdw blurRad="63500" dist="25400" dir="2700000" algn="tl" rotWithShape="0">
              <a:srgbClr val="0B2E4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198864" y="1115568"/>
            <a:ext cx="2798064" cy="73152"/>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63456" y="1353312"/>
            <a:ext cx="2468880" cy="384048"/>
          </a:xfrm>
          <a:prstGeom prst="rect">
            <a:avLst/>
          </a:prstGeom>
          <a:noFill/>
        </p:spPr>
        <p:txBody>
          <a:bodyPr wrap="square" lIns="18288" tIns="0" rIns="18288" bIns="0" anchor="t"/>
          <a:lstStyle/>
          <a:p>
            <a:pPr algn="l">
              <a:lnSpc>
                <a:spcPct val="105000"/>
              </a:lnSpc>
              <a:spcBef>
                <a:spcPts val="0"/>
              </a:spcBef>
              <a:spcAft>
                <a:spcPts val="0"/>
              </a:spcAft>
            </a:pPr>
            <a:r>
              <a:rPr sz="1800" b="1">
                <a:solidFill>
                  <a:srgbClr val="0B2E4A"/>
                </a:solidFill>
                <a:latin typeface="Calibri"/>
                <a:ea typeface="Calibri"/>
                <a:cs typeface="Calibri"/>
              </a:rPr>
              <a:t>Farmasi</a:t>
            </a:r>
          </a:p>
        </p:txBody>
      </p:sp>
      <p:sp>
        <p:nvSpPr>
          <p:cNvPr id="19" name="TextBox 18"/>
          <p:cNvSpPr txBox="1"/>
          <p:nvPr/>
        </p:nvSpPr>
        <p:spPr>
          <a:xfrm>
            <a:off x="9345168" y="1965960"/>
            <a:ext cx="2505456" cy="3017520"/>
          </a:xfrm>
          <a:prstGeom prst="rect">
            <a:avLst/>
          </a:prstGeom>
          <a:noFill/>
        </p:spPr>
        <p:txBody>
          <a:bodyPr wrap="square" lIns="18288" tIns="0" rIns="18288" bIns="0" anchor="t"/>
          <a:lstStyle/>
          <a:p>
            <a:pPr algn="l">
              <a:lnSpc>
                <a:spcPct val="105000"/>
              </a:lnSpc>
              <a:spcBef>
                <a:spcPts val="200"/>
              </a:spcBef>
              <a:spcAft>
                <a:spcPts val="0"/>
              </a:spcAft>
            </a:pPr>
            <a:r>
              <a:rPr sz="1400" b="0">
                <a:solidFill>
                  <a:srgbClr val="173042"/>
                </a:solidFill>
                <a:latin typeface="Calibri"/>
                <a:ea typeface="Calibri"/>
                <a:cs typeface="Calibri"/>
              </a:rPr>
              <a:t>–  Resep sampai penyerahan</a:t>
            </a:r>
          </a:p>
          <a:p>
            <a:pPr algn="l">
              <a:lnSpc>
                <a:spcPct val="105000"/>
              </a:lnSpc>
              <a:spcBef>
                <a:spcPts val="1400"/>
              </a:spcBef>
              <a:spcAft>
                <a:spcPts val="0"/>
              </a:spcAft>
            </a:pPr>
            <a:r>
              <a:rPr sz="1400" b="0">
                <a:solidFill>
                  <a:srgbClr val="173042"/>
                </a:solidFill>
                <a:latin typeface="Calibri"/>
                <a:ea typeface="Calibri"/>
                <a:cs typeface="Calibri"/>
              </a:rPr>
              <a:t>–  Stok, batch, dan kedaluwarsa</a:t>
            </a:r>
          </a:p>
          <a:p>
            <a:pPr algn="l">
              <a:lnSpc>
                <a:spcPct val="105000"/>
              </a:lnSpc>
              <a:spcBef>
                <a:spcPts val="1400"/>
              </a:spcBef>
              <a:spcAft>
                <a:spcPts val="0"/>
              </a:spcAft>
            </a:pPr>
            <a:r>
              <a:rPr sz="1400" b="0">
                <a:solidFill>
                  <a:srgbClr val="173042"/>
                </a:solidFill>
                <a:latin typeface="Calibri"/>
                <a:ea typeface="Calibri"/>
                <a:cs typeface="Calibri"/>
              </a:rPr>
              <a:t>–  Pemakaian stok secara FEFO</a:t>
            </a:r>
          </a:p>
          <a:p>
            <a:pPr algn="l">
              <a:lnSpc>
                <a:spcPct val="105000"/>
              </a:lnSpc>
              <a:spcBef>
                <a:spcPts val="1400"/>
              </a:spcBef>
              <a:spcAft>
                <a:spcPts val="0"/>
              </a:spcAft>
            </a:pPr>
            <a:r>
              <a:rPr sz="1400" b="0">
                <a:solidFill>
                  <a:srgbClr val="173042"/>
                </a:solidFill>
                <a:latin typeface="Calibri"/>
                <a:ea typeface="Calibri"/>
                <a:cs typeface="Calibri"/>
              </a:rPr>
              <a:t>–  Supplier dan penerimaan barang</a:t>
            </a:r>
          </a:p>
        </p:txBody>
      </p:sp>
      <p:sp>
        <p:nvSpPr>
          <p:cNvPr id="20" name="Rounded Rectangle 19"/>
          <p:cNvSpPr/>
          <p:nvPr/>
        </p:nvSpPr>
        <p:spPr>
          <a:xfrm>
            <a:off x="365760" y="5486400"/>
            <a:ext cx="11448288" cy="804672"/>
          </a:xfrm>
          <a:prstGeom prst="roundRect">
            <a:avLst>
              <a:gd name="adj" fmla="val 6000"/>
            </a:avLst>
          </a:prstGeom>
          <a:solidFill>
            <a:srgbClr val="FFFFFF"/>
          </a:solidFill>
          <a:ln>
            <a:noFill/>
          </a:ln>
          <a:effectLst>
            <a:outerShdw blurRad="63500" dist="25400" dir="2700000" algn="tl" rotWithShape="0">
              <a:srgbClr val="0B2E4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5596128"/>
            <a:ext cx="11064240" cy="585216"/>
          </a:xfrm>
          <a:prstGeom prst="rect">
            <a:avLst/>
          </a:prstGeom>
          <a:noFill/>
        </p:spPr>
        <p:txBody>
          <a:bodyPr wrap="square" lIns="18288" tIns="0" rIns="18288" bIns="0" anchor="t"/>
          <a:lstStyle/>
          <a:p>
            <a:pPr algn="l">
              <a:lnSpc>
                <a:spcPct val="105000"/>
              </a:lnSpc>
              <a:spcBef>
                <a:spcPts val="0"/>
              </a:spcBef>
              <a:spcAft>
                <a:spcPts val="0"/>
              </a:spcAft>
            </a:pPr>
            <a:r>
              <a:rPr sz="1200" b="1">
                <a:solidFill>
                  <a:srgbClr val="0E7C86"/>
                </a:solidFill>
                <a:latin typeface="Calibri"/>
                <a:ea typeface="Calibri"/>
                <a:cs typeface="Calibri"/>
              </a:rPr>
              <a:t>Juga tersedia</a:t>
            </a:r>
          </a:p>
          <a:p>
            <a:pPr algn="l">
              <a:lnSpc>
                <a:spcPct val="105000"/>
              </a:lnSpc>
              <a:spcBef>
                <a:spcPts val="200"/>
              </a:spcBef>
              <a:spcAft>
                <a:spcPts val="0"/>
              </a:spcAft>
            </a:pPr>
            <a:r>
              <a:rPr sz="1400" b="0">
                <a:solidFill>
                  <a:srgbClr val="173042"/>
                </a:solidFill>
                <a:latin typeface="Calibri"/>
                <a:ea typeface="Calibri"/>
                <a:cs typeface="Calibri"/>
              </a:rPr>
              <a:t>Antrean dan layar monitor, booking sesi dokter, serta master data klinik. Rinciannya mengikuti peran pengguna.</a:t>
            </a:r>
          </a:p>
        </p:txBody>
      </p:sp>
      <p:sp>
        <p:nvSpPr>
          <p:cNvPr id="22" name="Rectangle 21"/>
          <p:cNvSpPr/>
          <p:nvPr/>
        </p:nvSpPr>
        <p:spPr>
          <a:xfrm>
            <a:off x="384048" y="6473952"/>
            <a:ext cx="11430000"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84048" y="6510528"/>
            <a:ext cx="7498079" cy="256032"/>
          </a:xfrm>
          <a:prstGeom prst="rect">
            <a:avLst/>
          </a:prstGeom>
          <a:noFill/>
        </p:spPr>
        <p:txBody>
          <a:bodyPr wrap="square" lIns="18288" tIns="0" rIns="18288" bIns="0" anchor="t"/>
          <a:lstStyle/>
          <a:p>
            <a:pPr algn="l">
              <a:lnSpc>
                <a:spcPct val="105000"/>
              </a:lnSpc>
              <a:spcBef>
                <a:spcPts val="0"/>
              </a:spcBef>
              <a:spcAft>
                <a:spcPts val="0"/>
              </a:spcAft>
            </a:pPr>
            <a:r>
              <a:rPr sz="1100" b="0">
                <a:solidFill>
                  <a:srgbClr val="5C6D7A"/>
                </a:solidFill>
                <a:latin typeface="Calibri"/>
                <a:ea typeface="Calibri"/>
                <a:cs typeface="Calibri"/>
              </a:rPr>
              <a:t>KlinikDent.id   ·   Diskusi kemitraan</a:t>
            </a:r>
          </a:p>
        </p:txBody>
      </p:sp>
      <p:sp>
        <p:nvSpPr>
          <p:cNvPr id="24" name="TextBox 23"/>
          <p:cNvSpPr txBox="1"/>
          <p:nvPr/>
        </p:nvSpPr>
        <p:spPr>
          <a:xfrm>
            <a:off x="9509760" y="6510528"/>
            <a:ext cx="2286000" cy="256032"/>
          </a:xfrm>
          <a:prstGeom prst="rect">
            <a:avLst/>
          </a:prstGeom>
          <a:noFill/>
        </p:spPr>
        <p:txBody>
          <a:bodyPr wrap="square" lIns="18288" tIns="0" rIns="18288" bIns="0" anchor="t"/>
          <a:lstStyle/>
          <a:p>
            <a:pPr algn="r">
              <a:lnSpc>
                <a:spcPct val="105000"/>
              </a:lnSpc>
              <a:spcBef>
                <a:spcPts val="0"/>
              </a:spcBef>
              <a:spcAft>
                <a:spcPts val="0"/>
              </a:spcAft>
            </a:pPr>
            <a:r>
              <a:rPr sz="1100" b="0">
                <a:solidFill>
                  <a:srgbClr val="5C6D7A"/>
                </a:solidFill>
                <a:latin typeface="Calibri"/>
                <a:ea typeface="Calibri"/>
                <a:cs typeface="Calibri"/>
              </a:rPr>
              <a:t>2  /  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201168"/>
            <a:ext cx="11338560" cy="438912"/>
          </a:xfrm>
          <a:prstGeom prst="rect">
            <a:avLst/>
          </a:prstGeom>
          <a:noFill/>
        </p:spPr>
        <p:txBody>
          <a:bodyPr wrap="square" lIns="18288" tIns="0" rIns="18288" bIns="0" anchor="t"/>
          <a:lstStyle/>
          <a:p>
            <a:pPr algn="l">
              <a:lnSpc>
                <a:spcPct val="105000"/>
              </a:lnSpc>
              <a:spcBef>
                <a:spcPts val="0"/>
              </a:spcBef>
              <a:spcAft>
                <a:spcPts val="0"/>
              </a:spcAft>
            </a:pPr>
            <a:r>
              <a:rPr sz="2600" b="1">
                <a:solidFill>
                  <a:srgbClr val="0B2E4A"/>
                </a:solidFill>
                <a:latin typeface="Calibri"/>
                <a:ea typeface="Calibri"/>
                <a:cs typeface="Calibri"/>
              </a:rPr>
              <a:t>Gambaran penggunaan KlinikDent.id</a:t>
            </a:r>
          </a:p>
        </p:txBody>
      </p:sp>
      <p:sp>
        <p:nvSpPr>
          <p:cNvPr id="4" name="TextBox 3"/>
          <p:cNvSpPr txBox="1"/>
          <p:nvPr/>
        </p:nvSpPr>
        <p:spPr>
          <a:xfrm>
            <a:off x="384048" y="658368"/>
            <a:ext cx="11338560" cy="329184"/>
          </a:xfrm>
          <a:prstGeom prst="rect">
            <a:avLst/>
          </a:prstGeom>
          <a:noFill/>
        </p:spPr>
        <p:txBody>
          <a:bodyPr wrap="square" lIns="18288" tIns="0" rIns="18288" bIns="0" anchor="t"/>
          <a:lstStyle/>
          <a:p>
            <a:pPr algn="l">
              <a:lnSpc>
                <a:spcPct val="105000"/>
              </a:lnSpc>
              <a:spcBef>
                <a:spcPts val="0"/>
              </a:spcBef>
              <a:spcAft>
                <a:spcPts val="0"/>
              </a:spcAft>
            </a:pPr>
            <a:r>
              <a:rPr sz="1400" b="0">
                <a:solidFill>
                  <a:srgbClr val="5C6D7A"/>
                </a:solidFill>
                <a:latin typeface="Calibri"/>
                <a:ea typeface="Calibri"/>
                <a:cs typeface="Calibri"/>
              </a:rPr>
              <a:t>Contoh alur yang dapat diperlihatkan saat demo.</a:t>
            </a:r>
          </a:p>
        </p:txBody>
      </p:sp>
      <p:sp>
        <p:nvSpPr>
          <p:cNvPr id="5" name="BINGKAI_01"/>
          <p:cNvSpPr/>
          <p:nvPr/>
        </p:nvSpPr>
        <p:spPr>
          <a:xfrm>
            <a:off x="384048" y="1170432"/>
            <a:ext cx="5623560" cy="3163824"/>
          </a:xfrm>
          <a:prstGeom prst="roundRect">
            <a:avLst>
              <a:gd name="adj" fmla="val 4000"/>
            </a:avLst>
          </a:prstGeom>
          <a:solidFill>
            <a:srgbClr val="E8EEF2"/>
          </a:solidFill>
          <a:ln w="15875">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SCREENSHOT_01"/>
          <p:cNvPicPr>
            <a:picLocks noChangeAspect="1"/>
          </p:cNvPicPr>
          <p:nvPr/>
        </p:nvPicPr>
        <p:blipFill>
          <a:blip r:embed="rId3"/>
          <a:srcRect/>
          <a:stretch/>
        </p:blipFill>
        <p:spPr>
          <a:xfrm>
            <a:off x="425196" y="1335857"/>
            <a:ext cx="5541264" cy="2832974"/>
          </a:xfrm>
          <a:prstGeom prst="rect">
            <a:avLst/>
          </a:prstGeom>
        </p:spPr>
      </p:pic>
      <p:sp>
        <p:nvSpPr>
          <p:cNvPr id="7" name="TextBox 6"/>
          <p:cNvSpPr txBox="1"/>
          <p:nvPr/>
        </p:nvSpPr>
        <p:spPr>
          <a:xfrm>
            <a:off x="384048" y="4407408"/>
            <a:ext cx="5623560" cy="256032"/>
          </a:xfrm>
          <a:prstGeom prst="rect">
            <a:avLst/>
          </a:prstGeom>
          <a:noFill/>
        </p:spPr>
        <p:txBody>
          <a:bodyPr wrap="square" lIns="18288" tIns="0" rIns="18288" bIns="0" anchor="t"/>
          <a:lstStyle/>
          <a:p>
            <a:pPr algn="l">
              <a:lnSpc>
                <a:spcPct val="105000"/>
              </a:lnSpc>
              <a:spcBef>
                <a:spcPts val="0"/>
              </a:spcBef>
              <a:spcAft>
                <a:spcPts val="0"/>
              </a:spcAft>
            </a:pPr>
            <a:r>
              <a:rPr sz="1300" b="1">
                <a:solidFill>
                  <a:srgbClr val="0B2E4A"/>
                </a:solidFill>
                <a:latin typeface="Calibri"/>
                <a:ea typeface="Calibri"/>
                <a:cs typeface="Calibri"/>
              </a:rPr>
              <a:t>SCREENSHOT 01  —  HALAMAN PENDAFTARAN</a:t>
            </a:r>
          </a:p>
        </p:txBody>
      </p:sp>
      <p:sp>
        <p:nvSpPr>
          <p:cNvPr id="8" name="TextBox 7"/>
          <p:cNvSpPr txBox="1"/>
          <p:nvPr/>
        </p:nvSpPr>
        <p:spPr>
          <a:xfrm>
            <a:off x="384048" y="4663440"/>
            <a:ext cx="5623560" cy="530352"/>
          </a:xfrm>
          <a:prstGeom prst="rect">
            <a:avLst/>
          </a:prstGeom>
          <a:noFill/>
        </p:spPr>
        <p:txBody>
          <a:bodyPr wrap="square" lIns="18288" tIns="0" rIns="18288" bIns="0" anchor="t"/>
          <a:lstStyle/>
          <a:p>
            <a:pPr algn="l">
              <a:lnSpc>
                <a:spcPct val="105000"/>
              </a:lnSpc>
              <a:spcBef>
                <a:spcPts val="0"/>
              </a:spcBef>
              <a:spcAft>
                <a:spcPts val="0"/>
              </a:spcAft>
            </a:pPr>
            <a:r>
              <a:rPr sz="1200" b="0">
                <a:solidFill>
                  <a:srgbClr val="5C6D7A"/>
                </a:solidFill>
                <a:latin typeface="Calibri"/>
                <a:ea typeface="Calibri"/>
                <a:cs typeface="Calibri"/>
              </a:rPr>
              <a:t>Ringkasan kunjungan hari ini dan jalan masuk untuk mencatat pasien sebelum pelayanan.</a:t>
            </a:r>
          </a:p>
        </p:txBody>
      </p:sp>
      <p:sp>
        <p:nvSpPr>
          <p:cNvPr id="9" name="BINGKAI_02"/>
          <p:cNvSpPr/>
          <p:nvPr/>
        </p:nvSpPr>
        <p:spPr>
          <a:xfrm>
            <a:off x="6181344" y="1170432"/>
            <a:ext cx="5623560" cy="3163824"/>
          </a:xfrm>
          <a:prstGeom prst="roundRect">
            <a:avLst>
              <a:gd name="adj" fmla="val 4000"/>
            </a:avLst>
          </a:prstGeom>
          <a:solidFill>
            <a:srgbClr val="E8EEF2"/>
          </a:solidFill>
          <a:ln w="15875">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SCREENSHOT_02"/>
          <p:cNvPicPr>
            <a:picLocks noChangeAspect="1"/>
          </p:cNvPicPr>
          <p:nvPr/>
        </p:nvPicPr>
        <p:blipFill>
          <a:blip r:embed="rId4"/>
          <a:srcRect/>
          <a:stretch/>
        </p:blipFill>
        <p:spPr>
          <a:xfrm>
            <a:off x="6487024" y="1211580"/>
            <a:ext cx="5012199" cy="3081528"/>
          </a:xfrm>
          <a:prstGeom prst="rect">
            <a:avLst/>
          </a:prstGeom>
        </p:spPr>
      </p:pic>
      <p:sp>
        <p:nvSpPr>
          <p:cNvPr id="11" name="TextBox 10"/>
          <p:cNvSpPr txBox="1"/>
          <p:nvPr/>
        </p:nvSpPr>
        <p:spPr>
          <a:xfrm>
            <a:off x="6181344" y="4407408"/>
            <a:ext cx="5623560" cy="256032"/>
          </a:xfrm>
          <a:prstGeom prst="rect">
            <a:avLst/>
          </a:prstGeom>
          <a:noFill/>
        </p:spPr>
        <p:txBody>
          <a:bodyPr wrap="square" lIns="18288" tIns="0" rIns="18288" bIns="0" anchor="t"/>
          <a:lstStyle/>
          <a:p>
            <a:pPr algn="l">
              <a:lnSpc>
                <a:spcPct val="105000"/>
              </a:lnSpc>
              <a:spcBef>
                <a:spcPts val="0"/>
              </a:spcBef>
              <a:spcAft>
                <a:spcPts val="0"/>
              </a:spcAft>
            </a:pPr>
            <a:r>
              <a:rPr sz="1300" b="1">
                <a:solidFill>
                  <a:srgbClr val="0B2E4A"/>
                </a:solidFill>
                <a:latin typeface="Calibri"/>
                <a:ea typeface="Calibri"/>
                <a:cs typeface="Calibri"/>
              </a:rPr>
              <a:t>SCREENSHOT 02  —  PELAYANAN DAN ODONTOGRAM</a:t>
            </a:r>
          </a:p>
        </p:txBody>
      </p:sp>
      <p:sp>
        <p:nvSpPr>
          <p:cNvPr id="12" name="TextBox 11"/>
          <p:cNvSpPr txBox="1"/>
          <p:nvPr/>
        </p:nvSpPr>
        <p:spPr>
          <a:xfrm>
            <a:off x="6181344" y="4663440"/>
            <a:ext cx="5623560" cy="530352"/>
          </a:xfrm>
          <a:prstGeom prst="rect">
            <a:avLst/>
          </a:prstGeom>
          <a:noFill/>
        </p:spPr>
        <p:txBody>
          <a:bodyPr wrap="square" lIns="18288" tIns="0" rIns="18288" bIns="0" anchor="t"/>
          <a:lstStyle/>
          <a:p>
            <a:pPr algn="l">
              <a:lnSpc>
                <a:spcPct val="105000"/>
              </a:lnSpc>
              <a:spcBef>
                <a:spcPts val="0"/>
              </a:spcBef>
              <a:spcAft>
                <a:spcPts val="0"/>
              </a:spcAft>
            </a:pPr>
            <a:r>
              <a:rPr sz="1200" b="0">
                <a:solidFill>
                  <a:srgbClr val="5C6D7A"/>
                </a:solidFill>
                <a:latin typeface="Calibri"/>
                <a:ea typeface="Calibri"/>
                <a:cs typeface="Calibri"/>
              </a:rPr>
              <a:t>Halaman pelayanan pada tab Odontogram, untuk pencatatan kondisi gigi dewasa dan sulung.</a:t>
            </a:r>
          </a:p>
        </p:txBody>
      </p:sp>
      <p:sp>
        <p:nvSpPr>
          <p:cNvPr id="13" name="Rounded Rectangle 12"/>
          <p:cNvSpPr/>
          <p:nvPr/>
        </p:nvSpPr>
        <p:spPr>
          <a:xfrm>
            <a:off x="384048" y="5532120"/>
            <a:ext cx="11430000" cy="804672"/>
          </a:xfrm>
          <a:prstGeom prst="roundRect">
            <a:avLst>
              <a:gd name="adj" fmla="val 6000"/>
            </a:avLst>
          </a:prstGeom>
          <a:solidFill>
            <a:srgbClr val="FFFFFF"/>
          </a:solidFill>
          <a:ln>
            <a:noFill/>
          </a:ln>
          <a:effectLst>
            <a:outerShdw blurRad="63500" dist="25400" dir="2700000" algn="tl" rotWithShape="0">
              <a:srgbClr val="0B2E4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 y="5632704"/>
            <a:ext cx="11064240" cy="603504"/>
          </a:xfrm>
          <a:prstGeom prst="rect">
            <a:avLst/>
          </a:prstGeom>
          <a:noFill/>
        </p:spPr>
        <p:txBody>
          <a:bodyPr wrap="square" lIns="18288" tIns="0" rIns="18288" bIns="0" anchor="t"/>
          <a:lstStyle/>
          <a:p>
            <a:pPr algn="l">
              <a:lnSpc>
                <a:spcPct val="105000"/>
              </a:lnSpc>
              <a:spcBef>
                <a:spcPts val="0"/>
              </a:spcBef>
              <a:spcAft>
                <a:spcPts val="0"/>
              </a:spcAft>
            </a:pPr>
            <a:r>
              <a:rPr sz="1200" b="1">
                <a:solidFill>
                  <a:srgbClr val="0E7C86"/>
                </a:solidFill>
                <a:latin typeface="Calibri"/>
                <a:ea typeface="Calibri"/>
                <a:cs typeface="Calibri"/>
              </a:rPr>
              <a:t>Urutan demo</a:t>
            </a:r>
          </a:p>
          <a:p>
            <a:pPr algn="l">
              <a:lnSpc>
                <a:spcPct val="105000"/>
              </a:lnSpc>
              <a:spcBef>
                <a:spcPts val="200"/>
              </a:spcBef>
              <a:spcAft>
                <a:spcPts val="0"/>
              </a:spcAft>
            </a:pPr>
            <a:r>
              <a:rPr sz="1400" b="0">
                <a:solidFill>
                  <a:srgbClr val="173042"/>
                </a:solidFill>
                <a:latin typeface="Calibri"/>
                <a:ea typeface="Calibri"/>
                <a:cs typeface="Calibri"/>
              </a:rPr>
              <a:t>Pendaftaran  →  pelayanan dan odontogram  →  tindakan atau resep bila audiensnya dokter  →  kasir dan farmasi.</a:t>
            </a:r>
          </a:p>
        </p:txBody>
      </p:sp>
      <p:sp>
        <p:nvSpPr>
          <p:cNvPr id="15" name="Rectangle 14"/>
          <p:cNvSpPr/>
          <p:nvPr/>
        </p:nvSpPr>
        <p:spPr>
          <a:xfrm>
            <a:off x="384048" y="6473952"/>
            <a:ext cx="11430000"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4048" y="6510528"/>
            <a:ext cx="7498079" cy="256032"/>
          </a:xfrm>
          <a:prstGeom prst="rect">
            <a:avLst/>
          </a:prstGeom>
          <a:noFill/>
        </p:spPr>
        <p:txBody>
          <a:bodyPr wrap="square" lIns="18288" tIns="0" rIns="18288" bIns="0" anchor="t"/>
          <a:lstStyle/>
          <a:p>
            <a:pPr algn="l">
              <a:lnSpc>
                <a:spcPct val="105000"/>
              </a:lnSpc>
              <a:spcBef>
                <a:spcPts val="0"/>
              </a:spcBef>
              <a:spcAft>
                <a:spcPts val="0"/>
              </a:spcAft>
            </a:pPr>
            <a:r>
              <a:rPr sz="1100" b="0">
                <a:solidFill>
                  <a:srgbClr val="5C6D7A"/>
                </a:solidFill>
                <a:latin typeface="Calibri"/>
                <a:ea typeface="Calibri"/>
                <a:cs typeface="Calibri"/>
              </a:rPr>
              <a:t>KlinikDent.id   ·   Diskusi kemitraan</a:t>
            </a:r>
          </a:p>
        </p:txBody>
      </p:sp>
      <p:sp>
        <p:nvSpPr>
          <p:cNvPr id="17" name="TextBox 16"/>
          <p:cNvSpPr txBox="1"/>
          <p:nvPr/>
        </p:nvSpPr>
        <p:spPr>
          <a:xfrm>
            <a:off x="9509760" y="6510528"/>
            <a:ext cx="2286000" cy="256032"/>
          </a:xfrm>
          <a:prstGeom prst="rect">
            <a:avLst/>
          </a:prstGeom>
          <a:noFill/>
        </p:spPr>
        <p:txBody>
          <a:bodyPr wrap="square" lIns="18288" tIns="0" rIns="18288" bIns="0" anchor="t"/>
          <a:lstStyle/>
          <a:p>
            <a:pPr algn="r">
              <a:lnSpc>
                <a:spcPct val="105000"/>
              </a:lnSpc>
              <a:spcBef>
                <a:spcPts val="0"/>
              </a:spcBef>
              <a:spcAft>
                <a:spcPts val="0"/>
              </a:spcAft>
            </a:pPr>
            <a:r>
              <a:rPr sz="1100" b="0">
                <a:solidFill>
                  <a:srgbClr val="5C6D7A"/>
                </a:solidFill>
                <a:latin typeface="Calibri"/>
                <a:ea typeface="Calibri"/>
                <a:cs typeface="Calibri"/>
              </a:rPr>
              <a:t>3  /  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201168"/>
            <a:ext cx="11338560" cy="438912"/>
          </a:xfrm>
          <a:prstGeom prst="rect">
            <a:avLst/>
          </a:prstGeom>
          <a:noFill/>
        </p:spPr>
        <p:txBody>
          <a:bodyPr wrap="square" lIns="18288" tIns="0" rIns="18288" bIns="0" anchor="t"/>
          <a:lstStyle/>
          <a:p>
            <a:pPr algn="l">
              <a:lnSpc>
                <a:spcPct val="105000"/>
              </a:lnSpc>
              <a:spcBef>
                <a:spcPts val="0"/>
              </a:spcBef>
              <a:spcAft>
                <a:spcPts val="0"/>
              </a:spcAft>
            </a:pPr>
            <a:r>
              <a:rPr sz="2600" b="1">
                <a:solidFill>
                  <a:srgbClr val="0B2E4A"/>
                </a:solidFill>
                <a:latin typeface="Calibri"/>
                <a:ea typeface="Calibri"/>
                <a:cs typeface="Calibri"/>
              </a:rPr>
              <a:t>Mendukung aktivitas klinik sehari-hari</a:t>
            </a:r>
          </a:p>
        </p:txBody>
      </p:sp>
      <p:sp>
        <p:nvSpPr>
          <p:cNvPr id="4" name="Rounded Rectangle 3"/>
          <p:cNvSpPr/>
          <p:nvPr/>
        </p:nvSpPr>
        <p:spPr>
          <a:xfrm>
            <a:off x="365760" y="868680"/>
            <a:ext cx="3767328" cy="1353312"/>
          </a:xfrm>
          <a:prstGeom prst="roundRect">
            <a:avLst>
              <a:gd name="adj" fmla="val 8000"/>
            </a:avLst>
          </a:prstGeom>
          <a:solidFill>
            <a:srgbClr val="FFFFFF"/>
          </a:solidFill>
          <a:ln>
            <a:noFill/>
          </a:ln>
          <a:effectLst>
            <a:outerShdw blurRad="63500" dist="25400" dir="2700000" algn="tl" rotWithShape="0">
              <a:srgbClr val="0B2E4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868680"/>
            <a:ext cx="73152" cy="1353312"/>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85216" y="969264"/>
            <a:ext cx="3401568" cy="502920"/>
          </a:xfrm>
          <a:prstGeom prst="rect">
            <a:avLst/>
          </a:prstGeom>
          <a:noFill/>
        </p:spPr>
        <p:txBody>
          <a:bodyPr wrap="square" lIns="18288" tIns="0" rIns="18288" bIns="0" anchor="t"/>
          <a:lstStyle/>
          <a:p>
            <a:pPr algn="l">
              <a:lnSpc>
                <a:spcPct val="102000"/>
              </a:lnSpc>
              <a:spcBef>
                <a:spcPts val="0"/>
              </a:spcBef>
              <a:spcAft>
                <a:spcPts val="0"/>
              </a:spcAft>
            </a:pPr>
            <a:r>
              <a:rPr sz="1400" b="1">
                <a:solidFill>
                  <a:srgbClr val="0B2E4A"/>
                </a:solidFill>
                <a:latin typeface="Calibri"/>
                <a:ea typeface="Calibri"/>
                <a:cs typeface="Calibri"/>
              </a:rPr>
              <a:t>Dokter, jadwal, dan hak akses</a:t>
            </a:r>
          </a:p>
        </p:txBody>
      </p:sp>
      <p:sp>
        <p:nvSpPr>
          <p:cNvPr id="7" name="TextBox 6"/>
          <p:cNvSpPr txBox="1"/>
          <p:nvPr/>
        </p:nvSpPr>
        <p:spPr>
          <a:xfrm>
            <a:off x="585216" y="1481328"/>
            <a:ext cx="3401568" cy="621792"/>
          </a:xfrm>
          <a:prstGeom prst="rect">
            <a:avLst/>
          </a:prstGeom>
          <a:noFill/>
        </p:spPr>
        <p:txBody>
          <a:bodyPr wrap="square" lIns="18288" tIns="0" rIns="18288" bIns="0" anchor="t"/>
          <a:lstStyle/>
          <a:p>
            <a:pPr algn="l">
              <a:lnSpc>
                <a:spcPct val="105000"/>
              </a:lnSpc>
              <a:spcBef>
                <a:spcPts val="0"/>
              </a:spcBef>
              <a:spcAft>
                <a:spcPts val="0"/>
              </a:spcAft>
            </a:pPr>
            <a:r>
              <a:rPr sz="1200" b="0">
                <a:solidFill>
                  <a:srgbClr val="5C6D7A"/>
                </a:solidFill>
                <a:latin typeface="Calibri"/>
                <a:ea typeface="Calibri"/>
                <a:cs typeface="Calibri"/>
              </a:rPr>
              <a:t>Profil tenaga medis, jadwal praktik, ruangan, serta peran pengguna.</a:t>
            </a:r>
          </a:p>
        </p:txBody>
      </p:sp>
      <p:sp>
        <p:nvSpPr>
          <p:cNvPr id="8" name="Rounded Rectangle 7"/>
          <p:cNvSpPr/>
          <p:nvPr/>
        </p:nvSpPr>
        <p:spPr>
          <a:xfrm>
            <a:off x="4279392" y="868680"/>
            <a:ext cx="3767328" cy="1353312"/>
          </a:xfrm>
          <a:prstGeom prst="roundRect">
            <a:avLst>
              <a:gd name="adj" fmla="val 8000"/>
            </a:avLst>
          </a:prstGeom>
          <a:solidFill>
            <a:srgbClr val="FFFFFF"/>
          </a:solidFill>
          <a:ln>
            <a:noFill/>
          </a:ln>
          <a:effectLst>
            <a:outerShdw blurRad="63500" dist="25400" dir="2700000" algn="tl" rotWithShape="0">
              <a:srgbClr val="0B2E4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279392" y="868680"/>
            <a:ext cx="73152" cy="1353312"/>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98848" y="969264"/>
            <a:ext cx="3401568" cy="502920"/>
          </a:xfrm>
          <a:prstGeom prst="rect">
            <a:avLst/>
          </a:prstGeom>
          <a:noFill/>
        </p:spPr>
        <p:txBody>
          <a:bodyPr wrap="square" lIns="18288" tIns="0" rIns="18288" bIns="0" anchor="t"/>
          <a:lstStyle/>
          <a:p>
            <a:pPr algn="l">
              <a:lnSpc>
                <a:spcPct val="102000"/>
              </a:lnSpc>
              <a:spcBef>
                <a:spcPts val="0"/>
              </a:spcBef>
              <a:spcAft>
                <a:spcPts val="0"/>
              </a:spcAft>
            </a:pPr>
            <a:r>
              <a:rPr sz="1400" b="1">
                <a:solidFill>
                  <a:srgbClr val="0B2E4A"/>
                </a:solidFill>
                <a:latin typeface="Calibri"/>
                <a:ea typeface="Calibri"/>
                <a:cs typeface="Calibri"/>
              </a:rPr>
              <a:t>Tagihan, kasir, dan laporan</a:t>
            </a:r>
          </a:p>
        </p:txBody>
      </p:sp>
      <p:sp>
        <p:nvSpPr>
          <p:cNvPr id="11" name="TextBox 10"/>
          <p:cNvSpPr txBox="1"/>
          <p:nvPr/>
        </p:nvSpPr>
        <p:spPr>
          <a:xfrm>
            <a:off x="4498848" y="1481328"/>
            <a:ext cx="3401568" cy="621792"/>
          </a:xfrm>
          <a:prstGeom prst="rect">
            <a:avLst/>
          </a:prstGeom>
          <a:noFill/>
        </p:spPr>
        <p:txBody>
          <a:bodyPr wrap="square" lIns="18288" tIns="0" rIns="18288" bIns="0" anchor="t"/>
          <a:lstStyle/>
          <a:p>
            <a:pPr algn="l">
              <a:lnSpc>
                <a:spcPct val="105000"/>
              </a:lnSpc>
              <a:spcBef>
                <a:spcPts val="0"/>
              </a:spcBef>
              <a:spcAft>
                <a:spcPts val="0"/>
              </a:spcAft>
            </a:pPr>
            <a:r>
              <a:rPr sz="1200" b="0">
                <a:solidFill>
                  <a:srgbClr val="5C6D7A"/>
                </a:solidFill>
                <a:latin typeface="Calibri"/>
                <a:ea typeface="Calibri"/>
                <a:cs typeface="Calibri"/>
              </a:rPr>
              <a:t>Tagihan dari pelayanan, pencatatan pembayaran, shift kasir, dan laporan keuangan.</a:t>
            </a:r>
          </a:p>
        </p:txBody>
      </p:sp>
      <p:sp>
        <p:nvSpPr>
          <p:cNvPr id="12" name="Rounded Rectangle 11"/>
          <p:cNvSpPr/>
          <p:nvPr/>
        </p:nvSpPr>
        <p:spPr>
          <a:xfrm>
            <a:off x="8193024" y="868680"/>
            <a:ext cx="3767328" cy="1353312"/>
          </a:xfrm>
          <a:prstGeom prst="roundRect">
            <a:avLst>
              <a:gd name="adj" fmla="val 8000"/>
            </a:avLst>
          </a:prstGeom>
          <a:solidFill>
            <a:srgbClr val="FFFFFF"/>
          </a:solidFill>
          <a:ln>
            <a:noFill/>
          </a:ln>
          <a:effectLst>
            <a:outerShdw blurRad="63500" dist="25400" dir="2700000" algn="tl" rotWithShape="0">
              <a:srgbClr val="0B2E4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193024" y="868680"/>
            <a:ext cx="73152" cy="1353312"/>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0" y="969264"/>
            <a:ext cx="3401568" cy="502920"/>
          </a:xfrm>
          <a:prstGeom prst="rect">
            <a:avLst/>
          </a:prstGeom>
          <a:noFill/>
        </p:spPr>
        <p:txBody>
          <a:bodyPr wrap="square" lIns="18288" tIns="0" rIns="18288" bIns="0" anchor="t"/>
          <a:lstStyle/>
          <a:p>
            <a:pPr algn="l">
              <a:lnSpc>
                <a:spcPct val="102000"/>
              </a:lnSpc>
              <a:spcBef>
                <a:spcPts val="0"/>
              </a:spcBef>
              <a:spcAft>
                <a:spcPts val="0"/>
              </a:spcAft>
            </a:pPr>
            <a:r>
              <a:rPr sz="1400" b="1">
                <a:solidFill>
                  <a:srgbClr val="0B2E4A"/>
                </a:solidFill>
                <a:latin typeface="Calibri"/>
                <a:ea typeface="Calibri"/>
                <a:cs typeface="Calibri"/>
              </a:rPr>
              <a:t>Resep, stok, dan kedaluwarsa</a:t>
            </a:r>
          </a:p>
        </p:txBody>
      </p:sp>
      <p:sp>
        <p:nvSpPr>
          <p:cNvPr id="15" name="TextBox 14"/>
          <p:cNvSpPr txBox="1"/>
          <p:nvPr/>
        </p:nvSpPr>
        <p:spPr>
          <a:xfrm>
            <a:off x="8412480" y="1481328"/>
            <a:ext cx="3401568" cy="621792"/>
          </a:xfrm>
          <a:prstGeom prst="rect">
            <a:avLst/>
          </a:prstGeom>
          <a:noFill/>
        </p:spPr>
        <p:txBody>
          <a:bodyPr wrap="square" lIns="18288" tIns="0" rIns="18288" bIns="0" anchor="t"/>
          <a:lstStyle/>
          <a:p>
            <a:pPr algn="l">
              <a:lnSpc>
                <a:spcPct val="105000"/>
              </a:lnSpc>
              <a:spcBef>
                <a:spcPts val="0"/>
              </a:spcBef>
              <a:spcAft>
                <a:spcPts val="0"/>
              </a:spcAft>
            </a:pPr>
            <a:r>
              <a:rPr sz="1200" b="0">
                <a:solidFill>
                  <a:srgbClr val="5C6D7A"/>
                </a:solidFill>
                <a:latin typeface="Calibri"/>
                <a:ea typeface="Calibri"/>
                <a:cs typeface="Calibri"/>
              </a:rPr>
              <a:t>Resep hingga penyerahan, stok per batch, dan pemakaian yang mengikuti kedaluwarsa.</a:t>
            </a:r>
          </a:p>
        </p:txBody>
      </p:sp>
      <p:sp>
        <p:nvSpPr>
          <p:cNvPr id="16" name="BINGKAI_05"/>
          <p:cNvSpPr/>
          <p:nvPr/>
        </p:nvSpPr>
        <p:spPr>
          <a:xfrm>
            <a:off x="502920" y="2450592"/>
            <a:ext cx="5394960" cy="3035808"/>
          </a:xfrm>
          <a:prstGeom prst="roundRect">
            <a:avLst>
              <a:gd name="adj" fmla="val 4000"/>
            </a:avLst>
          </a:prstGeom>
          <a:solidFill>
            <a:srgbClr val="E8EEF2"/>
          </a:solidFill>
          <a:ln w="15875">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SCREENSHOT_05"/>
          <p:cNvPicPr>
            <a:picLocks noChangeAspect="1"/>
          </p:cNvPicPr>
          <p:nvPr/>
        </p:nvPicPr>
        <p:blipFill>
          <a:blip r:embed="rId3"/>
          <a:srcRect/>
          <a:stretch/>
        </p:blipFill>
        <p:spPr>
          <a:xfrm>
            <a:off x="544068" y="2609861"/>
            <a:ext cx="5312664" cy="2717269"/>
          </a:xfrm>
          <a:prstGeom prst="rect">
            <a:avLst/>
          </a:prstGeom>
        </p:spPr>
      </p:pic>
      <p:sp>
        <p:nvSpPr>
          <p:cNvPr id="18" name="TextBox 17"/>
          <p:cNvSpPr txBox="1"/>
          <p:nvPr/>
        </p:nvSpPr>
        <p:spPr>
          <a:xfrm>
            <a:off x="502920" y="5559552"/>
            <a:ext cx="5394960" cy="256032"/>
          </a:xfrm>
          <a:prstGeom prst="rect">
            <a:avLst/>
          </a:prstGeom>
          <a:noFill/>
        </p:spPr>
        <p:txBody>
          <a:bodyPr wrap="square" lIns="18288" tIns="0" rIns="18288" bIns="0" anchor="t"/>
          <a:lstStyle/>
          <a:p>
            <a:pPr algn="l">
              <a:lnSpc>
                <a:spcPct val="105000"/>
              </a:lnSpc>
              <a:spcBef>
                <a:spcPts val="0"/>
              </a:spcBef>
              <a:spcAft>
                <a:spcPts val="0"/>
              </a:spcAft>
            </a:pPr>
            <a:r>
              <a:rPr sz="1300" b="1">
                <a:solidFill>
                  <a:srgbClr val="0B2E4A"/>
                </a:solidFill>
                <a:latin typeface="Calibri"/>
                <a:ea typeface="Calibri"/>
                <a:cs typeface="Calibri"/>
              </a:rPr>
              <a:t>SCREENSHOT 05  —  TAGIHAN DAN KASIR</a:t>
            </a:r>
          </a:p>
        </p:txBody>
      </p:sp>
      <p:sp>
        <p:nvSpPr>
          <p:cNvPr id="19" name="TextBox 18"/>
          <p:cNvSpPr txBox="1"/>
          <p:nvPr/>
        </p:nvSpPr>
        <p:spPr>
          <a:xfrm>
            <a:off x="502920" y="5815584"/>
            <a:ext cx="5394960" cy="530352"/>
          </a:xfrm>
          <a:prstGeom prst="rect">
            <a:avLst/>
          </a:prstGeom>
          <a:noFill/>
        </p:spPr>
        <p:txBody>
          <a:bodyPr wrap="square" lIns="18288" tIns="0" rIns="18288" bIns="0" anchor="t"/>
          <a:lstStyle/>
          <a:p>
            <a:pPr algn="l">
              <a:lnSpc>
                <a:spcPct val="105000"/>
              </a:lnSpc>
              <a:spcBef>
                <a:spcPts val="0"/>
              </a:spcBef>
              <a:spcAft>
                <a:spcPts val="0"/>
              </a:spcAft>
            </a:pPr>
            <a:r>
              <a:rPr sz="1200" b="0">
                <a:solidFill>
                  <a:srgbClr val="5C6D7A"/>
                </a:solidFill>
                <a:latin typeface="Calibri"/>
                <a:ea typeface="Calibri"/>
                <a:cs typeface="Calibri"/>
              </a:rPr>
              <a:t>Detail tagihan: pasien, item pelayanan, dan pencatatan pembayaran.</a:t>
            </a:r>
          </a:p>
        </p:txBody>
      </p:sp>
      <p:sp>
        <p:nvSpPr>
          <p:cNvPr id="20" name="BINGKAI_06"/>
          <p:cNvSpPr/>
          <p:nvPr/>
        </p:nvSpPr>
        <p:spPr>
          <a:xfrm>
            <a:off x="6291072" y="2450592"/>
            <a:ext cx="5394960" cy="3035808"/>
          </a:xfrm>
          <a:prstGeom prst="roundRect">
            <a:avLst>
              <a:gd name="adj" fmla="val 4000"/>
            </a:avLst>
          </a:prstGeom>
          <a:solidFill>
            <a:srgbClr val="E8EEF2"/>
          </a:solidFill>
          <a:ln w="15875">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SCREENSHOT_06"/>
          <p:cNvPicPr>
            <a:picLocks noChangeAspect="1"/>
          </p:cNvPicPr>
          <p:nvPr/>
        </p:nvPicPr>
        <p:blipFill>
          <a:blip r:embed="rId4"/>
          <a:srcRect/>
          <a:stretch/>
        </p:blipFill>
        <p:spPr>
          <a:xfrm>
            <a:off x="6332220" y="2622326"/>
            <a:ext cx="5312664" cy="2692340"/>
          </a:xfrm>
          <a:prstGeom prst="rect">
            <a:avLst/>
          </a:prstGeom>
        </p:spPr>
      </p:pic>
      <p:sp>
        <p:nvSpPr>
          <p:cNvPr id="22" name="TextBox 21"/>
          <p:cNvSpPr txBox="1"/>
          <p:nvPr/>
        </p:nvSpPr>
        <p:spPr>
          <a:xfrm>
            <a:off x="6291072" y="5559552"/>
            <a:ext cx="5394960" cy="256032"/>
          </a:xfrm>
          <a:prstGeom prst="rect">
            <a:avLst/>
          </a:prstGeom>
          <a:noFill/>
        </p:spPr>
        <p:txBody>
          <a:bodyPr wrap="square" lIns="18288" tIns="0" rIns="18288" bIns="0" anchor="t"/>
          <a:lstStyle/>
          <a:p>
            <a:pPr algn="l">
              <a:lnSpc>
                <a:spcPct val="105000"/>
              </a:lnSpc>
              <a:spcBef>
                <a:spcPts val="0"/>
              </a:spcBef>
              <a:spcAft>
                <a:spcPts val="0"/>
              </a:spcAft>
            </a:pPr>
            <a:r>
              <a:rPr sz="1300" b="1">
                <a:solidFill>
                  <a:srgbClr val="0B2E4A"/>
                </a:solidFill>
                <a:latin typeface="Calibri"/>
                <a:ea typeface="Calibri"/>
                <a:cs typeface="Calibri"/>
              </a:rPr>
              <a:t>SCREENSHOT 06  —  STOK FARMASI</a:t>
            </a:r>
          </a:p>
        </p:txBody>
      </p:sp>
      <p:sp>
        <p:nvSpPr>
          <p:cNvPr id="23" name="TextBox 22"/>
          <p:cNvSpPr txBox="1"/>
          <p:nvPr/>
        </p:nvSpPr>
        <p:spPr>
          <a:xfrm>
            <a:off x="6291072" y="5815584"/>
            <a:ext cx="5394960" cy="530352"/>
          </a:xfrm>
          <a:prstGeom prst="rect">
            <a:avLst/>
          </a:prstGeom>
          <a:noFill/>
        </p:spPr>
        <p:txBody>
          <a:bodyPr wrap="square" lIns="18288" tIns="0" rIns="18288" bIns="0" anchor="t"/>
          <a:lstStyle/>
          <a:p>
            <a:pPr algn="l">
              <a:lnSpc>
                <a:spcPct val="105000"/>
              </a:lnSpc>
              <a:spcBef>
                <a:spcPts val="0"/>
              </a:spcBef>
              <a:spcAft>
                <a:spcPts val="0"/>
              </a:spcAft>
            </a:pPr>
            <a:r>
              <a:rPr sz="1200" b="0">
                <a:solidFill>
                  <a:srgbClr val="5C6D7A"/>
                </a:solidFill>
                <a:latin typeface="Calibri"/>
                <a:ea typeface="Calibri"/>
                <a:cs typeface="Calibri"/>
              </a:rPr>
              <a:t>Stok obat per batch, tanggal kedaluwarsa, dan jumlah yang tersedia.</a:t>
            </a:r>
          </a:p>
        </p:txBody>
      </p:sp>
      <p:sp>
        <p:nvSpPr>
          <p:cNvPr id="24" name="Rectangle 23"/>
          <p:cNvSpPr/>
          <p:nvPr/>
        </p:nvSpPr>
        <p:spPr>
          <a:xfrm>
            <a:off x="384048" y="6473952"/>
            <a:ext cx="11430000"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6510528"/>
            <a:ext cx="7498079" cy="256032"/>
          </a:xfrm>
          <a:prstGeom prst="rect">
            <a:avLst/>
          </a:prstGeom>
          <a:noFill/>
        </p:spPr>
        <p:txBody>
          <a:bodyPr wrap="square" lIns="18288" tIns="0" rIns="18288" bIns="0" anchor="t"/>
          <a:lstStyle/>
          <a:p>
            <a:pPr algn="l">
              <a:lnSpc>
                <a:spcPct val="105000"/>
              </a:lnSpc>
              <a:spcBef>
                <a:spcPts val="0"/>
              </a:spcBef>
              <a:spcAft>
                <a:spcPts val="0"/>
              </a:spcAft>
            </a:pPr>
            <a:r>
              <a:rPr sz="1100" b="0">
                <a:solidFill>
                  <a:srgbClr val="5C6D7A"/>
                </a:solidFill>
                <a:latin typeface="Calibri"/>
                <a:ea typeface="Calibri"/>
                <a:cs typeface="Calibri"/>
              </a:rPr>
              <a:t>KlinikDent.id   ·   Diskusi kemitraan</a:t>
            </a:r>
          </a:p>
        </p:txBody>
      </p:sp>
      <p:sp>
        <p:nvSpPr>
          <p:cNvPr id="26" name="TextBox 25"/>
          <p:cNvSpPr txBox="1"/>
          <p:nvPr/>
        </p:nvSpPr>
        <p:spPr>
          <a:xfrm>
            <a:off x="9509760" y="6510528"/>
            <a:ext cx="2286000" cy="256032"/>
          </a:xfrm>
          <a:prstGeom prst="rect">
            <a:avLst/>
          </a:prstGeom>
          <a:noFill/>
        </p:spPr>
        <p:txBody>
          <a:bodyPr wrap="square" lIns="18288" tIns="0" rIns="18288" bIns="0" anchor="t"/>
          <a:lstStyle/>
          <a:p>
            <a:pPr algn="r">
              <a:lnSpc>
                <a:spcPct val="105000"/>
              </a:lnSpc>
              <a:spcBef>
                <a:spcPts val="0"/>
              </a:spcBef>
              <a:spcAft>
                <a:spcPts val="0"/>
              </a:spcAft>
            </a:pPr>
            <a:r>
              <a:rPr sz="1100" b="0">
                <a:solidFill>
                  <a:srgbClr val="5C6D7A"/>
                </a:solidFill>
                <a:latin typeface="Calibri"/>
                <a:ea typeface="Calibri"/>
                <a:cs typeface="Calibri"/>
              </a:rPr>
              <a:t>4  /  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201168"/>
            <a:ext cx="11338560" cy="438912"/>
          </a:xfrm>
          <a:prstGeom prst="rect">
            <a:avLst/>
          </a:prstGeom>
          <a:noFill/>
        </p:spPr>
        <p:txBody>
          <a:bodyPr wrap="square" lIns="18288" tIns="0" rIns="18288" bIns="0" anchor="t"/>
          <a:lstStyle/>
          <a:p>
            <a:pPr algn="l">
              <a:lnSpc>
                <a:spcPct val="105000"/>
              </a:lnSpc>
              <a:spcBef>
                <a:spcPts val="0"/>
              </a:spcBef>
              <a:spcAft>
                <a:spcPts val="0"/>
              </a:spcAft>
            </a:pPr>
            <a:r>
              <a:rPr sz="2600" b="1">
                <a:solidFill>
                  <a:srgbClr val="0B2E4A"/>
                </a:solidFill>
                <a:latin typeface="Calibri"/>
                <a:ea typeface="Calibri"/>
                <a:cs typeface="Calibri"/>
              </a:rPr>
              <a:t>Fitur pendukung untuk kebutuhan klinik</a:t>
            </a:r>
          </a:p>
        </p:txBody>
      </p:sp>
      <p:sp>
        <p:nvSpPr>
          <p:cNvPr id="4" name="Rounded Rectangle 3"/>
          <p:cNvSpPr/>
          <p:nvPr/>
        </p:nvSpPr>
        <p:spPr>
          <a:xfrm>
            <a:off x="384048" y="1078992"/>
            <a:ext cx="11430000" cy="1024128"/>
          </a:xfrm>
          <a:prstGeom prst="roundRect">
            <a:avLst>
              <a:gd name="adj" fmla="val 6000"/>
            </a:avLst>
          </a:prstGeom>
          <a:solidFill>
            <a:srgbClr val="FFFFFF"/>
          </a:solidFill>
          <a:ln>
            <a:noFill/>
          </a:ln>
          <a:effectLst>
            <a:outerShdw blurRad="63500" dist="25400" dir="2700000" algn="tl" rotWithShape="0">
              <a:srgbClr val="0B2E4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21792" y="1261872"/>
            <a:ext cx="7863840" cy="329184"/>
          </a:xfrm>
          <a:prstGeom prst="rect">
            <a:avLst/>
          </a:prstGeom>
          <a:noFill/>
        </p:spPr>
        <p:txBody>
          <a:bodyPr wrap="square" lIns="18288" tIns="0" rIns="18288" bIns="0" anchor="t"/>
          <a:lstStyle/>
          <a:p>
            <a:pPr algn="l">
              <a:lnSpc>
                <a:spcPct val="105000"/>
              </a:lnSpc>
              <a:spcBef>
                <a:spcPts val="0"/>
              </a:spcBef>
              <a:spcAft>
                <a:spcPts val="0"/>
              </a:spcAft>
            </a:pPr>
            <a:r>
              <a:rPr sz="1800" b="1">
                <a:solidFill>
                  <a:srgbClr val="0B2E4A"/>
                </a:solidFill>
                <a:latin typeface="Calibri"/>
                <a:ea typeface="Calibri"/>
                <a:cs typeface="Calibri"/>
              </a:rPr>
              <a:t>WhatsApp</a:t>
            </a:r>
          </a:p>
        </p:txBody>
      </p:sp>
      <p:sp>
        <p:nvSpPr>
          <p:cNvPr id="6" name="TextBox 5"/>
          <p:cNvSpPr txBox="1"/>
          <p:nvPr/>
        </p:nvSpPr>
        <p:spPr>
          <a:xfrm>
            <a:off x="621792" y="1627631"/>
            <a:ext cx="8046720" cy="329184"/>
          </a:xfrm>
          <a:prstGeom prst="rect">
            <a:avLst/>
          </a:prstGeom>
          <a:noFill/>
        </p:spPr>
        <p:txBody>
          <a:bodyPr wrap="square" lIns="18288" tIns="0" rIns="18288" bIns="0" anchor="t"/>
          <a:lstStyle/>
          <a:p>
            <a:pPr algn="l">
              <a:lnSpc>
                <a:spcPct val="105000"/>
              </a:lnSpc>
              <a:spcBef>
                <a:spcPts val="0"/>
              </a:spcBef>
              <a:spcAft>
                <a:spcPts val="0"/>
              </a:spcAft>
            </a:pPr>
            <a:r>
              <a:rPr sz="1400" b="0">
                <a:solidFill>
                  <a:srgbClr val="5C6D7A"/>
                </a:solidFill>
                <a:latin typeface="Calibri"/>
                <a:ea typeface="Calibri"/>
                <a:cs typeface="Calibri"/>
              </a:rPr>
              <a:t>Pengingat, promo, template, dan riwayat pesan setelah layanan dikonfigurasi.</a:t>
            </a:r>
          </a:p>
        </p:txBody>
      </p:sp>
      <p:sp>
        <p:nvSpPr>
          <p:cNvPr id="9" name="Rounded Rectangle 8"/>
          <p:cNvSpPr/>
          <p:nvPr/>
        </p:nvSpPr>
        <p:spPr>
          <a:xfrm>
            <a:off x="384048" y="2231136"/>
            <a:ext cx="11430000" cy="1024128"/>
          </a:xfrm>
          <a:prstGeom prst="roundRect">
            <a:avLst>
              <a:gd name="adj" fmla="val 6000"/>
            </a:avLst>
          </a:prstGeom>
          <a:solidFill>
            <a:srgbClr val="FFFFFF"/>
          </a:solidFill>
          <a:ln>
            <a:noFill/>
          </a:ln>
          <a:effectLst>
            <a:outerShdw blurRad="63500" dist="25400" dir="2700000" algn="tl" rotWithShape="0">
              <a:srgbClr val="0B2E4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 y="2414016"/>
            <a:ext cx="7863840" cy="329184"/>
          </a:xfrm>
          <a:prstGeom prst="rect">
            <a:avLst/>
          </a:prstGeom>
          <a:noFill/>
        </p:spPr>
        <p:txBody>
          <a:bodyPr wrap="square" lIns="18288" tIns="0" rIns="18288" bIns="0" anchor="t"/>
          <a:lstStyle/>
          <a:p>
            <a:pPr algn="l">
              <a:lnSpc>
                <a:spcPct val="105000"/>
              </a:lnSpc>
              <a:spcBef>
                <a:spcPts val="0"/>
              </a:spcBef>
              <a:spcAft>
                <a:spcPts val="0"/>
              </a:spcAft>
            </a:pPr>
            <a:r>
              <a:rPr sz="1800" b="1">
                <a:solidFill>
                  <a:srgbClr val="0B2E4A"/>
                </a:solidFill>
                <a:latin typeface="Calibri"/>
                <a:ea typeface="Calibri"/>
                <a:cs typeface="Calibri"/>
              </a:rPr>
              <a:t>Portal pasien</a:t>
            </a:r>
          </a:p>
        </p:txBody>
      </p:sp>
      <p:sp>
        <p:nvSpPr>
          <p:cNvPr id="11" name="TextBox 10"/>
          <p:cNvSpPr txBox="1"/>
          <p:nvPr/>
        </p:nvSpPr>
        <p:spPr>
          <a:xfrm>
            <a:off x="621792" y="2779776"/>
            <a:ext cx="8046720" cy="329184"/>
          </a:xfrm>
          <a:prstGeom prst="rect">
            <a:avLst/>
          </a:prstGeom>
          <a:noFill/>
        </p:spPr>
        <p:txBody>
          <a:bodyPr wrap="square" lIns="18288" tIns="0" rIns="18288" bIns="0" anchor="t"/>
          <a:lstStyle/>
          <a:p>
            <a:pPr algn="l">
              <a:lnSpc>
                <a:spcPct val="105000"/>
              </a:lnSpc>
              <a:spcBef>
                <a:spcPts val="0"/>
              </a:spcBef>
              <a:spcAft>
                <a:spcPts val="0"/>
              </a:spcAft>
            </a:pPr>
            <a:r>
              <a:rPr sz="1400" b="0">
                <a:solidFill>
                  <a:srgbClr val="5C6D7A"/>
                </a:solidFill>
                <a:latin typeface="Calibri"/>
                <a:ea typeface="Calibri"/>
                <a:cs typeface="Calibri"/>
              </a:rPr>
              <a:t>Pasien melihat kunjungan dan mengunduh resume.</a:t>
            </a:r>
          </a:p>
        </p:txBody>
      </p:sp>
      <p:sp>
        <p:nvSpPr>
          <p:cNvPr id="12" name="Rounded Rectangle 11"/>
          <p:cNvSpPr/>
          <p:nvPr/>
        </p:nvSpPr>
        <p:spPr>
          <a:xfrm>
            <a:off x="9281160" y="2578608"/>
            <a:ext cx="2240280" cy="329184"/>
          </a:xfrm>
          <a:prstGeom prst="roundRect">
            <a:avLst>
              <a:gd name="adj" fmla="val 50000"/>
            </a:avLst>
          </a:prstGeom>
          <a:solidFill>
            <a:srgbClr val="E7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81160" y="2557707"/>
            <a:ext cx="2240280" cy="329184"/>
          </a:xfrm>
          <a:prstGeom prst="rect">
            <a:avLst/>
          </a:prstGeom>
          <a:noFill/>
        </p:spPr>
        <p:txBody>
          <a:bodyPr wrap="square" lIns="18288" tIns="0" rIns="18288" bIns="0" anchor="ctr"/>
          <a:lstStyle/>
          <a:p>
            <a:pPr algn="ctr">
              <a:lnSpc>
                <a:spcPct val="105000"/>
              </a:lnSpc>
              <a:spcBef>
                <a:spcPts val="0"/>
              </a:spcBef>
              <a:spcAft>
                <a:spcPts val="0"/>
              </a:spcAft>
            </a:pPr>
            <a:r>
              <a:rPr sz="1100" b="1" dirty="0" err="1">
                <a:solidFill>
                  <a:srgbClr val="0E7C86"/>
                </a:solidFill>
                <a:latin typeface="Calibri"/>
                <a:ea typeface="Calibri"/>
                <a:cs typeface="Calibri"/>
              </a:rPr>
              <a:t>Tersedia</a:t>
            </a:r>
            <a:endParaRPr sz="1100" b="1" dirty="0">
              <a:solidFill>
                <a:srgbClr val="0E7C86"/>
              </a:solidFill>
              <a:latin typeface="Calibri"/>
              <a:ea typeface="Calibri"/>
              <a:cs typeface="Calibri"/>
            </a:endParaRPr>
          </a:p>
        </p:txBody>
      </p:sp>
      <p:sp>
        <p:nvSpPr>
          <p:cNvPr id="14" name="Rounded Rectangle 13"/>
          <p:cNvSpPr/>
          <p:nvPr/>
        </p:nvSpPr>
        <p:spPr>
          <a:xfrm>
            <a:off x="384048" y="3383280"/>
            <a:ext cx="11430000" cy="1024128"/>
          </a:xfrm>
          <a:prstGeom prst="roundRect">
            <a:avLst>
              <a:gd name="adj" fmla="val 6000"/>
            </a:avLst>
          </a:prstGeom>
          <a:solidFill>
            <a:srgbClr val="FFFFFF"/>
          </a:solidFill>
          <a:ln>
            <a:noFill/>
          </a:ln>
          <a:effectLst>
            <a:outerShdw blurRad="63500" dist="25400" dir="2700000" algn="tl" rotWithShape="0">
              <a:srgbClr val="0B2E4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1792" y="3566160"/>
            <a:ext cx="7863840" cy="329184"/>
          </a:xfrm>
          <a:prstGeom prst="rect">
            <a:avLst/>
          </a:prstGeom>
          <a:noFill/>
        </p:spPr>
        <p:txBody>
          <a:bodyPr wrap="square" lIns="18288" tIns="0" rIns="18288" bIns="0" anchor="t"/>
          <a:lstStyle/>
          <a:p>
            <a:pPr algn="l">
              <a:lnSpc>
                <a:spcPct val="105000"/>
              </a:lnSpc>
              <a:spcBef>
                <a:spcPts val="0"/>
              </a:spcBef>
              <a:spcAft>
                <a:spcPts val="0"/>
              </a:spcAft>
            </a:pPr>
            <a:r>
              <a:rPr sz="1800" b="1">
                <a:solidFill>
                  <a:srgbClr val="0B2E4A"/>
                </a:solidFill>
                <a:latin typeface="Calibri"/>
                <a:ea typeface="Calibri"/>
                <a:cs typeface="Calibri"/>
              </a:rPr>
              <a:t>Audit, arsip, langganan</a:t>
            </a:r>
          </a:p>
        </p:txBody>
      </p:sp>
      <p:sp>
        <p:nvSpPr>
          <p:cNvPr id="16" name="TextBox 15"/>
          <p:cNvSpPr txBox="1"/>
          <p:nvPr/>
        </p:nvSpPr>
        <p:spPr>
          <a:xfrm>
            <a:off x="621792" y="3931920"/>
            <a:ext cx="8046720" cy="329184"/>
          </a:xfrm>
          <a:prstGeom prst="rect">
            <a:avLst/>
          </a:prstGeom>
          <a:noFill/>
        </p:spPr>
        <p:txBody>
          <a:bodyPr wrap="square" lIns="18288" tIns="0" rIns="18288" bIns="0" anchor="t"/>
          <a:lstStyle/>
          <a:p>
            <a:pPr algn="l">
              <a:lnSpc>
                <a:spcPct val="105000"/>
              </a:lnSpc>
              <a:spcBef>
                <a:spcPts val="0"/>
              </a:spcBef>
              <a:spcAft>
                <a:spcPts val="0"/>
              </a:spcAft>
            </a:pPr>
            <a:r>
              <a:rPr sz="1400" b="0">
                <a:solidFill>
                  <a:srgbClr val="5C6D7A"/>
                </a:solidFill>
                <a:latin typeface="Calibri"/>
                <a:ea typeface="Calibri"/>
                <a:cs typeface="Calibri"/>
              </a:rPr>
              <a:t>Audit log, arsip data praktik, dan paket langganan klinik.</a:t>
            </a:r>
          </a:p>
        </p:txBody>
      </p:sp>
      <p:sp>
        <p:nvSpPr>
          <p:cNvPr id="17" name="Rounded Rectangle 16"/>
          <p:cNvSpPr/>
          <p:nvPr/>
        </p:nvSpPr>
        <p:spPr>
          <a:xfrm>
            <a:off x="9281160" y="3730752"/>
            <a:ext cx="2240280" cy="329184"/>
          </a:xfrm>
          <a:prstGeom prst="roundRect">
            <a:avLst>
              <a:gd name="adj" fmla="val 50000"/>
            </a:avLst>
          </a:prstGeom>
          <a:solidFill>
            <a:srgbClr val="E7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281160" y="3730752"/>
            <a:ext cx="2240280" cy="329184"/>
          </a:xfrm>
          <a:prstGeom prst="rect">
            <a:avLst/>
          </a:prstGeom>
          <a:noFill/>
        </p:spPr>
        <p:txBody>
          <a:bodyPr wrap="square" lIns="18288" tIns="0" rIns="18288" bIns="0" anchor="ctr"/>
          <a:lstStyle/>
          <a:p>
            <a:pPr algn="ctr">
              <a:lnSpc>
                <a:spcPct val="105000"/>
              </a:lnSpc>
              <a:spcBef>
                <a:spcPts val="0"/>
              </a:spcBef>
              <a:spcAft>
                <a:spcPts val="0"/>
              </a:spcAft>
            </a:pPr>
            <a:r>
              <a:rPr sz="1100" b="1">
                <a:solidFill>
                  <a:srgbClr val="0E7C86"/>
                </a:solidFill>
                <a:latin typeface="Calibri"/>
                <a:ea typeface="Calibri"/>
                <a:cs typeface="Calibri"/>
              </a:rPr>
              <a:t>Tersedia</a:t>
            </a:r>
          </a:p>
        </p:txBody>
      </p:sp>
      <p:sp>
        <p:nvSpPr>
          <p:cNvPr id="19" name="Rounded Rectangle 18"/>
          <p:cNvSpPr/>
          <p:nvPr/>
        </p:nvSpPr>
        <p:spPr>
          <a:xfrm>
            <a:off x="384048" y="4663440"/>
            <a:ext cx="11430000" cy="1554480"/>
          </a:xfrm>
          <a:prstGeom prst="roundRect">
            <a:avLst>
              <a:gd name="adj" fmla="val 6000"/>
            </a:avLst>
          </a:prstGeom>
          <a:solidFill>
            <a:srgbClr val="0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4864608"/>
            <a:ext cx="10927080" cy="1170432"/>
          </a:xfrm>
          <a:prstGeom prst="rect">
            <a:avLst/>
          </a:prstGeom>
          <a:noFill/>
        </p:spPr>
        <p:txBody>
          <a:bodyPr wrap="square" lIns="18288" tIns="0" rIns="18288" bIns="0" anchor="ctr"/>
          <a:lstStyle/>
          <a:p>
            <a:pPr algn="ctr">
              <a:lnSpc>
                <a:spcPct val="105000"/>
              </a:lnSpc>
              <a:spcBef>
                <a:spcPts val="0"/>
              </a:spcBef>
              <a:spcAft>
                <a:spcPts val="0"/>
              </a:spcAft>
            </a:pPr>
            <a:r>
              <a:rPr sz="1400" b="1">
                <a:solidFill>
                  <a:srgbClr val="0E7C86"/>
                </a:solidFill>
                <a:latin typeface="Calibri"/>
                <a:ea typeface="Calibri"/>
                <a:cs typeface="Calibri"/>
              </a:rPr>
              <a:t>Kerja sama pendampingan</a:t>
            </a:r>
          </a:p>
          <a:p>
            <a:pPr algn="ctr">
              <a:lnSpc>
                <a:spcPct val="105000"/>
              </a:lnSpc>
              <a:spcBef>
                <a:spcPts val="600"/>
              </a:spcBef>
              <a:spcAft>
                <a:spcPts val="0"/>
              </a:spcAft>
            </a:pPr>
            <a:r>
              <a:rPr sz="1800" b="0">
                <a:solidFill>
                  <a:srgbClr val="FFFFFF"/>
                </a:solidFill>
                <a:latin typeface="Calibri"/>
                <a:ea typeface="Calibri"/>
                <a:cs typeface="Calibri"/>
              </a:rPr>
              <a:t>KlinikDent.id membuka kerja sama pendampingan untuk menyesuaikan kebutuhan klinik.</a:t>
            </a:r>
          </a:p>
        </p:txBody>
      </p:sp>
      <p:sp>
        <p:nvSpPr>
          <p:cNvPr id="21" name="Rectangle 20"/>
          <p:cNvSpPr/>
          <p:nvPr/>
        </p:nvSpPr>
        <p:spPr>
          <a:xfrm>
            <a:off x="384048" y="6473952"/>
            <a:ext cx="11430000"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84048" y="6510528"/>
            <a:ext cx="7498079" cy="256032"/>
          </a:xfrm>
          <a:prstGeom prst="rect">
            <a:avLst/>
          </a:prstGeom>
          <a:noFill/>
        </p:spPr>
        <p:txBody>
          <a:bodyPr wrap="square" lIns="18288" tIns="0" rIns="18288" bIns="0" anchor="t"/>
          <a:lstStyle/>
          <a:p>
            <a:pPr algn="l">
              <a:lnSpc>
                <a:spcPct val="105000"/>
              </a:lnSpc>
              <a:spcBef>
                <a:spcPts val="0"/>
              </a:spcBef>
              <a:spcAft>
                <a:spcPts val="0"/>
              </a:spcAft>
            </a:pPr>
            <a:r>
              <a:rPr sz="1100" b="0">
                <a:solidFill>
                  <a:srgbClr val="5C6D7A"/>
                </a:solidFill>
                <a:latin typeface="Calibri"/>
                <a:ea typeface="Calibri"/>
                <a:cs typeface="Calibri"/>
              </a:rPr>
              <a:t>KlinikDent.id   ·   Diskusi kemitraan</a:t>
            </a:r>
          </a:p>
        </p:txBody>
      </p:sp>
      <p:sp>
        <p:nvSpPr>
          <p:cNvPr id="23" name="TextBox 22"/>
          <p:cNvSpPr txBox="1"/>
          <p:nvPr/>
        </p:nvSpPr>
        <p:spPr>
          <a:xfrm>
            <a:off x="9509760" y="6510528"/>
            <a:ext cx="2286000" cy="256032"/>
          </a:xfrm>
          <a:prstGeom prst="rect">
            <a:avLst/>
          </a:prstGeom>
          <a:noFill/>
        </p:spPr>
        <p:txBody>
          <a:bodyPr wrap="square" lIns="18288" tIns="0" rIns="18288" bIns="0" anchor="t"/>
          <a:lstStyle/>
          <a:p>
            <a:pPr algn="r">
              <a:lnSpc>
                <a:spcPct val="105000"/>
              </a:lnSpc>
              <a:spcBef>
                <a:spcPts val="0"/>
              </a:spcBef>
              <a:spcAft>
                <a:spcPts val="0"/>
              </a:spcAft>
            </a:pPr>
            <a:r>
              <a:rPr sz="1100" b="0">
                <a:solidFill>
                  <a:srgbClr val="5C6D7A"/>
                </a:solidFill>
                <a:latin typeface="Calibri"/>
                <a:ea typeface="Calibri"/>
                <a:cs typeface="Calibri"/>
              </a:rPr>
              <a:t>5  /  7</a:t>
            </a:r>
          </a:p>
        </p:txBody>
      </p:sp>
      <p:sp>
        <p:nvSpPr>
          <p:cNvPr id="31" name="Rounded Rectangle 11">
            <a:extLst>
              <a:ext uri="{FF2B5EF4-FFF2-40B4-BE49-F238E27FC236}">
                <a16:creationId xmlns:a16="http://schemas.microsoft.com/office/drawing/2014/main" id="{89C9155E-F427-D190-20E7-1B50A6207F6E}"/>
              </a:ext>
            </a:extLst>
          </p:cNvPr>
          <p:cNvSpPr/>
          <p:nvPr/>
        </p:nvSpPr>
        <p:spPr>
          <a:xfrm>
            <a:off x="9326880" y="1588444"/>
            <a:ext cx="2240280" cy="329184"/>
          </a:xfrm>
          <a:prstGeom prst="roundRect">
            <a:avLst>
              <a:gd name="adj" fmla="val 50000"/>
            </a:avLst>
          </a:prstGeom>
          <a:solidFill>
            <a:srgbClr val="E7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FCB21ADE-3D4E-D301-1C8E-F81AB9254193}"/>
              </a:ext>
            </a:extLst>
          </p:cNvPr>
          <p:cNvSpPr txBox="1"/>
          <p:nvPr/>
        </p:nvSpPr>
        <p:spPr>
          <a:xfrm>
            <a:off x="9326880" y="1597588"/>
            <a:ext cx="2240280" cy="329184"/>
          </a:xfrm>
          <a:prstGeom prst="rect">
            <a:avLst/>
          </a:prstGeom>
          <a:noFill/>
        </p:spPr>
        <p:txBody>
          <a:bodyPr wrap="square" lIns="18288" tIns="0" rIns="18288" bIns="0" anchor="ctr"/>
          <a:lstStyle/>
          <a:p>
            <a:pPr algn="ctr">
              <a:lnSpc>
                <a:spcPct val="105000"/>
              </a:lnSpc>
              <a:spcBef>
                <a:spcPts val="0"/>
              </a:spcBef>
              <a:spcAft>
                <a:spcPts val="0"/>
              </a:spcAft>
            </a:pPr>
            <a:r>
              <a:rPr sz="1100" b="1" dirty="0" err="1">
                <a:solidFill>
                  <a:srgbClr val="0E7C86"/>
                </a:solidFill>
                <a:latin typeface="Calibri"/>
                <a:ea typeface="Calibri"/>
                <a:cs typeface="Calibri"/>
              </a:rPr>
              <a:t>Tersedia</a:t>
            </a:r>
            <a:endParaRPr sz="1100" b="1" dirty="0">
              <a:solidFill>
                <a:srgbClr val="0E7C86"/>
              </a:solidFill>
              <a:latin typeface="Calibri"/>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201168"/>
            <a:ext cx="11338560" cy="438912"/>
          </a:xfrm>
          <a:prstGeom prst="rect">
            <a:avLst/>
          </a:prstGeom>
          <a:noFill/>
        </p:spPr>
        <p:txBody>
          <a:bodyPr wrap="square" lIns="18288" tIns="0" rIns="18288" bIns="0" anchor="t"/>
          <a:lstStyle/>
          <a:p>
            <a:pPr algn="l">
              <a:lnSpc>
                <a:spcPct val="105000"/>
              </a:lnSpc>
              <a:spcBef>
                <a:spcPts val="0"/>
              </a:spcBef>
              <a:spcAft>
                <a:spcPts val="0"/>
              </a:spcAft>
            </a:pPr>
            <a:r>
              <a:rPr sz="2600" b="1">
                <a:solidFill>
                  <a:srgbClr val="0B2E4A"/>
                </a:solidFill>
                <a:latin typeface="Calibri"/>
                <a:ea typeface="Calibri"/>
                <a:cs typeface="Calibri"/>
              </a:rPr>
              <a:t>Pengembangan mengikuti kebutuhan klinik</a:t>
            </a:r>
          </a:p>
        </p:txBody>
      </p:sp>
      <p:sp>
        <p:nvSpPr>
          <p:cNvPr id="4" name="TextBox 3"/>
          <p:cNvSpPr txBox="1"/>
          <p:nvPr/>
        </p:nvSpPr>
        <p:spPr>
          <a:xfrm>
            <a:off x="384048" y="658368"/>
            <a:ext cx="11338560" cy="329184"/>
          </a:xfrm>
          <a:prstGeom prst="rect">
            <a:avLst/>
          </a:prstGeom>
          <a:noFill/>
        </p:spPr>
        <p:txBody>
          <a:bodyPr wrap="square" lIns="18288" tIns="0" rIns="18288" bIns="0" anchor="t"/>
          <a:lstStyle/>
          <a:p>
            <a:pPr algn="l">
              <a:lnSpc>
                <a:spcPct val="105000"/>
              </a:lnSpc>
              <a:spcBef>
                <a:spcPts val="0"/>
              </a:spcBef>
              <a:spcAft>
                <a:spcPts val="0"/>
              </a:spcAft>
            </a:pPr>
            <a:r>
              <a:rPr sz="1400" b="0">
                <a:solidFill>
                  <a:srgbClr val="5C6D7A"/>
                </a:solidFill>
                <a:latin typeface="Calibri"/>
                <a:ea typeface="Calibri"/>
                <a:cs typeface="Calibri"/>
              </a:rPr>
              <a:t>Penyesuaian dilakukan melalui kerja sama pendampingan, sesuai prioritas klinik.</a:t>
            </a:r>
          </a:p>
        </p:txBody>
      </p:sp>
      <p:sp>
        <p:nvSpPr>
          <p:cNvPr id="5" name="Rounded Rectangle 4"/>
          <p:cNvSpPr/>
          <p:nvPr/>
        </p:nvSpPr>
        <p:spPr>
          <a:xfrm>
            <a:off x="365760" y="1170432"/>
            <a:ext cx="3767328" cy="2212848"/>
          </a:xfrm>
          <a:prstGeom prst="roundRect">
            <a:avLst>
              <a:gd name="adj" fmla="val 8000"/>
            </a:avLst>
          </a:prstGeom>
          <a:solidFill>
            <a:srgbClr val="FFFFFF"/>
          </a:solidFill>
          <a:ln>
            <a:noFill/>
          </a:ln>
          <a:effectLst>
            <a:outerShdw blurRad="63500" dist="25400" dir="2700000" algn="tl" rotWithShape="0">
              <a:srgbClr val="0B2E4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30352" y="1316736"/>
            <a:ext cx="347472" cy="347472"/>
          </a:xfrm>
          <a:prstGeom prst="ellipse">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1316736"/>
            <a:ext cx="347472" cy="347472"/>
          </a:xfrm>
          <a:prstGeom prst="rect">
            <a:avLst/>
          </a:prstGeom>
          <a:noFill/>
        </p:spPr>
        <p:txBody>
          <a:bodyPr wrap="square" lIns="18288" tIns="0" rIns="18288" bIns="0" anchor="ctr"/>
          <a:lstStyle/>
          <a:p>
            <a:pPr algn="ctr">
              <a:lnSpc>
                <a:spcPct val="105000"/>
              </a:lnSpc>
              <a:spcBef>
                <a:spcPts val="0"/>
              </a:spcBef>
              <a:spcAft>
                <a:spcPts val="0"/>
              </a:spcAft>
            </a:pPr>
            <a:r>
              <a:rPr sz="1100" b="1">
                <a:solidFill>
                  <a:srgbClr val="FFFFFF"/>
                </a:solidFill>
                <a:latin typeface="Calibri"/>
                <a:ea typeface="Calibri"/>
                <a:cs typeface="Calibri"/>
              </a:rPr>
              <a:t>01</a:t>
            </a:r>
          </a:p>
        </p:txBody>
      </p:sp>
      <p:sp>
        <p:nvSpPr>
          <p:cNvPr id="8" name="TextBox 7"/>
          <p:cNvSpPr txBox="1"/>
          <p:nvPr/>
        </p:nvSpPr>
        <p:spPr>
          <a:xfrm>
            <a:off x="969264" y="1335024"/>
            <a:ext cx="2971800" cy="566928"/>
          </a:xfrm>
          <a:prstGeom prst="rect">
            <a:avLst/>
          </a:prstGeom>
          <a:noFill/>
        </p:spPr>
        <p:txBody>
          <a:bodyPr wrap="square" lIns="18288" tIns="0" rIns="18288" bIns="0" anchor="t"/>
          <a:lstStyle/>
          <a:p>
            <a:r>
              <a:rPr lang="nl-NL" sz="1400" b="1" dirty="0"/>
              <a:t>Stock Opname dan Manajemen Stok</a:t>
            </a:r>
          </a:p>
        </p:txBody>
      </p:sp>
      <p:sp>
        <p:nvSpPr>
          <p:cNvPr id="9" name="TextBox 8"/>
          <p:cNvSpPr txBox="1"/>
          <p:nvPr/>
        </p:nvSpPr>
        <p:spPr>
          <a:xfrm>
            <a:off x="566928" y="1847088"/>
            <a:ext cx="3438144" cy="1188720"/>
          </a:xfrm>
          <a:prstGeom prst="rect">
            <a:avLst/>
          </a:prstGeom>
          <a:noFill/>
        </p:spPr>
        <p:txBody>
          <a:bodyPr wrap="square" lIns="18288" tIns="0" rIns="18288" bIns="0" anchor="t"/>
          <a:lstStyle/>
          <a:p>
            <a:pPr algn="l">
              <a:lnSpc>
                <a:spcPct val="105000"/>
              </a:lnSpc>
              <a:spcBef>
                <a:spcPts val="0"/>
              </a:spcBef>
              <a:spcAft>
                <a:spcPts val="0"/>
              </a:spcAft>
            </a:pPr>
            <a:r>
              <a:rPr lang="en-ID" sz="1300" b="0" dirty="0">
                <a:solidFill>
                  <a:srgbClr val="5C6D7A"/>
                </a:solidFill>
                <a:latin typeface="Calibri"/>
                <a:ea typeface="Calibri"/>
                <a:cs typeface="Calibri"/>
              </a:rPr>
              <a:t>Salah </a:t>
            </a:r>
            <a:r>
              <a:rPr lang="en-ID" sz="1300" b="0" dirty="0" err="1">
                <a:solidFill>
                  <a:srgbClr val="5C6D7A"/>
                </a:solidFill>
                <a:latin typeface="Calibri"/>
                <a:ea typeface="Calibri"/>
                <a:cs typeface="Calibri"/>
              </a:rPr>
              <a:t>satu</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kendala</a:t>
            </a:r>
            <a:r>
              <a:rPr lang="en-ID" sz="1300" b="0" dirty="0">
                <a:solidFill>
                  <a:srgbClr val="5C6D7A"/>
                </a:solidFill>
                <a:latin typeface="Calibri"/>
                <a:ea typeface="Calibri"/>
                <a:cs typeface="Calibri"/>
              </a:rPr>
              <a:t> yang </a:t>
            </a:r>
            <a:r>
              <a:rPr lang="en-ID" sz="1300" b="0" dirty="0" err="1">
                <a:solidFill>
                  <a:srgbClr val="5C6D7A"/>
                </a:solidFill>
                <a:latin typeface="Calibri"/>
                <a:ea typeface="Calibri"/>
                <a:cs typeface="Calibri"/>
              </a:rPr>
              <a:t>perlu</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diselesaikan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adalah</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menentukan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kebutuhan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obat</a:t>
            </a:r>
            <a:r>
              <a:rPr lang="en-ID" sz="1300" b="0" dirty="0">
                <a:solidFill>
                  <a:srgbClr val="5C6D7A"/>
                </a:solidFill>
                <a:latin typeface="Calibri"/>
                <a:ea typeface="Calibri"/>
                <a:cs typeface="Calibri"/>
              </a:rPr>
              <a:t> dan </a:t>
            </a:r>
            <a:r>
              <a:rPr lang="en-ID" sz="1300" b="0" dirty="0" err="1">
                <a:solidFill>
                  <a:srgbClr val="5C6D7A"/>
                </a:solidFill>
                <a:latin typeface="Calibri"/>
                <a:ea typeface="Calibri"/>
                <a:cs typeface="Calibri"/>
              </a:rPr>
              <a:t>bahan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medis</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untuk</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setiap</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tindakan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karena</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jumlah</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pemakaian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aktual</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tidak</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selalu</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sama</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Sistem</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diharapkan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membantu</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mencatat</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pemakaian</a:t>
            </a:r>
            <a:r>
              <a:rPr lang="en-ID" sz="1300" b="0" dirty="0">
                <a:solidFill>
                  <a:srgbClr val="5C6D7A"/>
                </a:solidFill>
                <a:latin typeface="Calibri"/>
                <a:ea typeface="Calibri"/>
                <a:cs typeface="Calibri"/>
              </a:rPr>
              <a:t> per </a:t>
            </a:r>
            <a:r>
              <a:rPr lang="en-ID" sz="1300" b="0" dirty="0" err="1">
                <a:solidFill>
                  <a:srgbClr val="5C6D7A"/>
                </a:solidFill>
                <a:latin typeface="Calibri"/>
                <a:ea typeface="Calibri"/>
                <a:cs typeface="Calibri"/>
              </a:rPr>
              <a:t>tindakan</a:t>
            </a:r>
            <a:r>
              <a:rPr lang="en-ID" sz="1300" b="0" dirty="0">
                <a:solidFill>
                  <a:srgbClr val="5C6D7A"/>
                </a:solidFill>
                <a:latin typeface="Calibri"/>
                <a:ea typeface="Calibri"/>
                <a:cs typeface="Calibri"/>
              </a:rPr>
              <a:t> dan </a:t>
            </a:r>
            <a:r>
              <a:rPr lang="en-ID" sz="1300" b="0" dirty="0" err="1">
                <a:solidFill>
                  <a:srgbClr val="5C6D7A"/>
                </a:solidFill>
                <a:latin typeface="Calibri"/>
                <a:ea typeface="Calibri"/>
                <a:cs typeface="Calibri"/>
              </a:rPr>
              <a:t>memantau</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stok</a:t>
            </a:r>
            <a:r>
              <a:rPr lang="en-ID" sz="1300" b="0" dirty="0">
                <a:solidFill>
                  <a:srgbClr val="5C6D7A"/>
                </a:solidFill>
                <a:latin typeface="Calibri"/>
                <a:ea typeface="Calibri"/>
                <a:cs typeface="Calibri"/>
              </a:rPr>
              <a:t> agar </a:t>
            </a:r>
            <a:r>
              <a:rPr lang="en-ID" sz="1300" b="0" dirty="0" err="1">
                <a:solidFill>
                  <a:srgbClr val="5C6D7A"/>
                </a:solidFill>
                <a:latin typeface="Calibri"/>
                <a:ea typeface="Calibri"/>
                <a:cs typeface="Calibri"/>
              </a:rPr>
              <a:t>perencanaan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kebutuhan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lebih</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akurat</a:t>
            </a:r>
            <a:r>
              <a:rPr lang="en-ID" sz="1300" b="0" dirty="0">
                <a:solidFill>
                  <a:srgbClr val="5C6D7A"/>
                </a:solidFill>
                <a:latin typeface="Calibri"/>
                <a:ea typeface="Calibri"/>
                <a:cs typeface="Calibri"/>
              </a:rPr>
              <a:t>.</a:t>
            </a:r>
          </a:p>
        </p:txBody>
      </p:sp>
      <p:sp>
        <p:nvSpPr>
          <p:cNvPr id="10" name="Rounded Rectangle 9"/>
          <p:cNvSpPr/>
          <p:nvPr/>
        </p:nvSpPr>
        <p:spPr>
          <a:xfrm>
            <a:off x="4279392" y="1170432"/>
            <a:ext cx="3767328" cy="2212848"/>
          </a:xfrm>
          <a:prstGeom prst="roundRect">
            <a:avLst>
              <a:gd name="adj" fmla="val 8000"/>
            </a:avLst>
          </a:prstGeom>
          <a:solidFill>
            <a:srgbClr val="FFFFFF"/>
          </a:solidFill>
          <a:ln>
            <a:noFill/>
          </a:ln>
          <a:effectLst>
            <a:outerShdw blurRad="63500" dist="25400" dir="2700000" algn="tl" rotWithShape="0">
              <a:srgbClr val="0B2E4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443984" y="1316736"/>
            <a:ext cx="347472" cy="347472"/>
          </a:xfrm>
          <a:prstGeom prst="ellipse">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43984" y="1316736"/>
            <a:ext cx="347472" cy="347472"/>
          </a:xfrm>
          <a:prstGeom prst="rect">
            <a:avLst/>
          </a:prstGeom>
          <a:noFill/>
        </p:spPr>
        <p:txBody>
          <a:bodyPr wrap="square" lIns="18288" tIns="0" rIns="18288" bIns="0" anchor="ctr"/>
          <a:lstStyle/>
          <a:p>
            <a:pPr algn="ctr">
              <a:lnSpc>
                <a:spcPct val="105000"/>
              </a:lnSpc>
              <a:spcBef>
                <a:spcPts val="0"/>
              </a:spcBef>
              <a:spcAft>
                <a:spcPts val="0"/>
              </a:spcAft>
            </a:pPr>
            <a:r>
              <a:rPr sz="1100" b="1">
                <a:solidFill>
                  <a:srgbClr val="FFFFFF"/>
                </a:solidFill>
                <a:latin typeface="Calibri"/>
                <a:ea typeface="Calibri"/>
                <a:cs typeface="Calibri"/>
              </a:rPr>
              <a:t>02</a:t>
            </a:r>
          </a:p>
        </p:txBody>
      </p:sp>
      <p:sp>
        <p:nvSpPr>
          <p:cNvPr id="13" name="TextBox 12"/>
          <p:cNvSpPr txBox="1"/>
          <p:nvPr/>
        </p:nvSpPr>
        <p:spPr>
          <a:xfrm>
            <a:off x="4882896" y="1335024"/>
            <a:ext cx="2971800" cy="566928"/>
          </a:xfrm>
          <a:prstGeom prst="rect">
            <a:avLst/>
          </a:prstGeom>
          <a:noFill/>
        </p:spPr>
        <p:txBody>
          <a:bodyPr wrap="square" lIns="18288" tIns="0" rIns="18288" bIns="0" anchor="t"/>
          <a:lstStyle/>
          <a:p>
            <a:r>
              <a:rPr lang="en-ID" sz="1400" b="1" dirty="0" err="1"/>
              <a:t>Pembagian</a:t>
            </a:r>
            <a:r>
              <a:rPr lang="en-ID" sz="1400" b="1" dirty="0"/>
              <a:t> Fee Dokter</a:t>
            </a:r>
          </a:p>
        </p:txBody>
      </p:sp>
      <p:sp>
        <p:nvSpPr>
          <p:cNvPr id="14" name="TextBox 13"/>
          <p:cNvSpPr txBox="1"/>
          <p:nvPr/>
        </p:nvSpPr>
        <p:spPr>
          <a:xfrm>
            <a:off x="4443983" y="1847087"/>
            <a:ext cx="3438144" cy="1188720"/>
          </a:xfrm>
          <a:prstGeom prst="rect">
            <a:avLst/>
          </a:prstGeom>
          <a:noFill/>
        </p:spPr>
        <p:txBody>
          <a:bodyPr wrap="square" lIns="18288" tIns="0" rIns="18288" bIns="0" anchor="t"/>
          <a:lstStyle/>
          <a:p>
            <a:pPr algn="l">
              <a:lnSpc>
                <a:spcPct val="105000"/>
              </a:lnSpc>
              <a:spcBef>
                <a:spcPts val="0"/>
              </a:spcBef>
              <a:spcAft>
                <a:spcPts val="0"/>
              </a:spcAft>
            </a:pPr>
            <a:r>
              <a:rPr lang="en-ID" sz="1300" b="0" dirty="0" err="1">
                <a:solidFill>
                  <a:srgbClr val="5C6D7A"/>
                </a:solidFill>
                <a:latin typeface="Calibri"/>
                <a:ea typeface="Calibri"/>
                <a:cs typeface="Calibri"/>
              </a:rPr>
              <a:t>Pengembangan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sistem</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perhitungan</a:t>
            </a:r>
            <a:r>
              <a:rPr lang="en-ID" sz="1300" b="0" dirty="0">
                <a:solidFill>
                  <a:srgbClr val="5C6D7A"/>
                </a:solidFill>
                <a:latin typeface="Calibri"/>
                <a:ea typeface="Calibri"/>
                <a:cs typeface="Calibri"/>
              </a:rPr>
              <a:t> dan </a:t>
            </a:r>
            <a:r>
              <a:rPr lang="en-ID" sz="1300" b="0" dirty="0" err="1">
                <a:solidFill>
                  <a:srgbClr val="5C6D7A"/>
                </a:solidFill>
                <a:latin typeface="Calibri"/>
                <a:ea typeface="Calibri"/>
                <a:cs typeface="Calibri"/>
              </a:rPr>
              <a:t>laporan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pembagian</a:t>
            </a:r>
            <a:r>
              <a:rPr lang="en-ID" sz="1300" b="0" dirty="0">
                <a:solidFill>
                  <a:srgbClr val="5C6D7A"/>
                </a:solidFill>
                <a:latin typeface="Calibri"/>
                <a:ea typeface="Calibri"/>
                <a:cs typeface="Calibri"/>
              </a:rPr>
              <a:t> fee </a:t>
            </a:r>
            <a:r>
              <a:rPr lang="en-ID" sz="1300" b="0" dirty="0" err="1">
                <a:solidFill>
                  <a:srgbClr val="5C6D7A"/>
                </a:solidFill>
                <a:latin typeface="Calibri"/>
                <a:ea typeface="Calibri"/>
                <a:cs typeface="Calibri"/>
              </a:rPr>
              <a:t>dokter</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berdasarkan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tindakan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dengan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skema</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perhitungan</a:t>
            </a:r>
            <a:r>
              <a:rPr lang="en-ID" sz="1300" b="0" dirty="0">
                <a:solidFill>
                  <a:srgbClr val="5C6D7A"/>
                </a:solidFill>
                <a:latin typeface="Calibri"/>
                <a:ea typeface="Calibri"/>
                <a:cs typeface="Calibri"/>
              </a:rPr>
              <a:t> yang </a:t>
            </a:r>
            <a:r>
              <a:rPr lang="en-ID" sz="1300" b="0" dirty="0" err="1">
                <a:solidFill>
                  <a:srgbClr val="5C6D7A"/>
                </a:solidFill>
                <a:latin typeface="Calibri"/>
                <a:ea typeface="Calibri"/>
                <a:cs typeface="Calibri"/>
              </a:rPr>
              <a:t>disesuaikan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dengan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kebijakan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klinik</a:t>
            </a:r>
            <a:r>
              <a:rPr lang="en-ID" sz="1300" b="0" dirty="0">
                <a:solidFill>
                  <a:srgbClr val="5C6D7A"/>
                </a:solidFill>
                <a:latin typeface="Calibri"/>
                <a:ea typeface="Calibri"/>
                <a:cs typeface="Calibri"/>
              </a:rPr>
              <a:t>.</a:t>
            </a:r>
            <a:endParaRPr sz="1300" b="0" dirty="0">
              <a:solidFill>
                <a:srgbClr val="5C6D7A"/>
              </a:solidFill>
              <a:latin typeface="Calibri"/>
              <a:ea typeface="Calibri"/>
              <a:cs typeface="Calibri"/>
            </a:endParaRPr>
          </a:p>
        </p:txBody>
      </p:sp>
      <p:sp>
        <p:nvSpPr>
          <p:cNvPr id="15" name="Rounded Rectangle 14"/>
          <p:cNvSpPr/>
          <p:nvPr/>
        </p:nvSpPr>
        <p:spPr>
          <a:xfrm>
            <a:off x="8193024" y="1170432"/>
            <a:ext cx="3767328" cy="2212848"/>
          </a:xfrm>
          <a:prstGeom prst="roundRect">
            <a:avLst>
              <a:gd name="adj" fmla="val 8000"/>
            </a:avLst>
          </a:prstGeom>
          <a:solidFill>
            <a:srgbClr val="FFFFFF"/>
          </a:solidFill>
          <a:ln>
            <a:noFill/>
          </a:ln>
          <a:effectLst>
            <a:outerShdw blurRad="63500" dist="25400" dir="2700000" algn="tl" rotWithShape="0">
              <a:srgbClr val="0B2E4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357616" y="1316736"/>
            <a:ext cx="347472" cy="347472"/>
          </a:xfrm>
          <a:prstGeom prst="ellipse">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57616" y="1316736"/>
            <a:ext cx="347472" cy="347472"/>
          </a:xfrm>
          <a:prstGeom prst="rect">
            <a:avLst/>
          </a:prstGeom>
          <a:noFill/>
        </p:spPr>
        <p:txBody>
          <a:bodyPr wrap="square" lIns="18288" tIns="0" rIns="18288" bIns="0" anchor="ctr"/>
          <a:lstStyle/>
          <a:p>
            <a:pPr algn="ctr">
              <a:lnSpc>
                <a:spcPct val="105000"/>
              </a:lnSpc>
              <a:spcBef>
                <a:spcPts val="0"/>
              </a:spcBef>
              <a:spcAft>
                <a:spcPts val="0"/>
              </a:spcAft>
            </a:pPr>
            <a:r>
              <a:rPr sz="1100" b="1">
                <a:solidFill>
                  <a:srgbClr val="FFFFFF"/>
                </a:solidFill>
                <a:latin typeface="Calibri"/>
                <a:ea typeface="Calibri"/>
                <a:cs typeface="Calibri"/>
              </a:rPr>
              <a:t>03</a:t>
            </a:r>
          </a:p>
        </p:txBody>
      </p:sp>
      <p:sp>
        <p:nvSpPr>
          <p:cNvPr id="18" name="TextBox 17"/>
          <p:cNvSpPr txBox="1"/>
          <p:nvPr/>
        </p:nvSpPr>
        <p:spPr>
          <a:xfrm>
            <a:off x="8796528" y="1335024"/>
            <a:ext cx="2971800" cy="566928"/>
          </a:xfrm>
          <a:prstGeom prst="rect">
            <a:avLst/>
          </a:prstGeom>
          <a:noFill/>
        </p:spPr>
        <p:txBody>
          <a:bodyPr wrap="square" lIns="18288" tIns="0" rIns="18288" bIns="0" anchor="t"/>
          <a:lstStyle/>
          <a:p>
            <a:r>
              <a:rPr lang="fi-FI" sz="1400" b="1" dirty="0"/>
              <a:t>Laporan Pemasukan dan Pengeluaran untuk Owner</a:t>
            </a:r>
          </a:p>
        </p:txBody>
      </p:sp>
      <p:sp>
        <p:nvSpPr>
          <p:cNvPr id="19" name="TextBox 18"/>
          <p:cNvSpPr txBox="1"/>
          <p:nvPr/>
        </p:nvSpPr>
        <p:spPr>
          <a:xfrm>
            <a:off x="8394191" y="1921361"/>
            <a:ext cx="3438144" cy="1188720"/>
          </a:xfrm>
          <a:prstGeom prst="rect">
            <a:avLst/>
          </a:prstGeom>
          <a:noFill/>
        </p:spPr>
        <p:txBody>
          <a:bodyPr wrap="square" lIns="18288" tIns="0" rIns="18288" bIns="0" anchor="t"/>
          <a:lstStyle/>
          <a:p>
            <a:pPr algn="l">
              <a:lnSpc>
                <a:spcPct val="105000"/>
              </a:lnSpc>
              <a:spcBef>
                <a:spcPts val="0"/>
              </a:spcBef>
              <a:spcAft>
                <a:spcPts val="0"/>
              </a:spcAft>
            </a:pPr>
            <a:r>
              <a:rPr lang="en-ID" sz="1300" b="0" dirty="0" err="1">
                <a:solidFill>
                  <a:srgbClr val="5C6D7A"/>
                </a:solidFill>
                <a:latin typeface="Calibri"/>
                <a:ea typeface="Calibri"/>
                <a:cs typeface="Calibri"/>
              </a:rPr>
              <a:t>Pengembangan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laporan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keuangan</a:t>
            </a:r>
            <a:r>
              <a:rPr lang="en-ID" sz="1300" b="0" dirty="0">
                <a:solidFill>
                  <a:srgbClr val="5C6D7A"/>
                </a:solidFill>
                <a:latin typeface="Calibri"/>
                <a:ea typeface="Calibri"/>
                <a:cs typeface="Calibri"/>
              </a:rPr>
              <a:t> yang </a:t>
            </a:r>
            <a:r>
              <a:rPr lang="en-ID" sz="1300" b="0" dirty="0" err="1">
                <a:solidFill>
                  <a:srgbClr val="5C6D7A"/>
                </a:solidFill>
                <a:latin typeface="Calibri"/>
                <a:ea typeface="Calibri"/>
                <a:cs typeface="Calibri"/>
              </a:rPr>
              <a:t>mudah</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dipahami</a:t>
            </a:r>
            <a:r>
              <a:rPr lang="en-ID" sz="1300" b="0" dirty="0">
                <a:solidFill>
                  <a:srgbClr val="5C6D7A"/>
                </a:solidFill>
                <a:latin typeface="Calibri"/>
                <a:ea typeface="Calibri"/>
                <a:cs typeface="Calibri"/>
              </a:rPr>
              <a:t> owner, </a:t>
            </a:r>
            <a:r>
              <a:rPr lang="en-ID" sz="1300" b="0" dirty="0" err="1">
                <a:solidFill>
                  <a:srgbClr val="5C6D7A"/>
                </a:solidFill>
                <a:latin typeface="Calibri"/>
                <a:ea typeface="Calibri"/>
                <a:cs typeface="Calibri"/>
              </a:rPr>
              <a:t>mencakup</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pemasukan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pengeluaran</a:t>
            </a:r>
            <a:r>
              <a:rPr lang="en-ID" sz="1300" b="0" dirty="0">
                <a:solidFill>
                  <a:srgbClr val="5C6D7A"/>
                </a:solidFill>
                <a:latin typeface="Calibri"/>
                <a:ea typeface="Calibri"/>
                <a:cs typeface="Calibri"/>
              </a:rPr>
              <a:t>, dan </a:t>
            </a:r>
            <a:r>
              <a:rPr lang="en-ID" sz="1300" b="0" dirty="0" err="1">
                <a:solidFill>
                  <a:srgbClr val="5C6D7A"/>
                </a:solidFill>
                <a:latin typeface="Calibri"/>
                <a:ea typeface="Calibri"/>
                <a:cs typeface="Calibri"/>
              </a:rPr>
              <a:t>ringkasan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kondisi</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keuangan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klinik</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sebagai</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dasar</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pemantauan</a:t>
            </a:r>
            <a:r>
              <a:rPr lang="en-ID" sz="1300" b="0" dirty="0">
                <a:solidFill>
                  <a:srgbClr val="5C6D7A"/>
                </a:solidFill>
                <a:latin typeface="Calibri"/>
                <a:ea typeface="Calibri"/>
                <a:cs typeface="Calibri"/>
              </a:rPr>
              <a:t> dan </a:t>
            </a:r>
            <a:r>
              <a:rPr lang="en-ID" sz="1300" b="0" dirty="0" err="1">
                <a:solidFill>
                  <a:srgbClr val="5C6D7A"/>
                </a:solidFill>
                <a:latin typeface="Calibri"/>
                <a:ea typeface="Calibri"/>
                <a:cs typeface="Calibri"/>
              </a:rPr>
              <a:t>pengambilan</a:t>
            </a:r>
            <a:r>
              <a:rPr lang="en-ID" sz="1300" b="0" dirty="0">
                <a:solidFill>
                  <a:srgbClr val="5C6D7A"/>
                </a:solidFill>
                <a:latin typeface="Calibri"/>
                <a:ea typeface="Calibri"/>
                <a:cs typeface="Calibri"/>
              </a:rPr>
              <a:t> </a:t>
            </a:r>
            <a:r>
              <a:rPr lang="en-ID" sz="1300" b="0" dirty="0" err="1">
                <a:solidFill>
                  <a:srgbClr val="5C6D7A"/>
                </a:solidFill>
                <a:latin typeface="Calibri"/>
                <a:ea typeface="Calibri"/>
                <a:cs typeface="Calibri"/>
              </a:rPr>
              <a:t>keputusan</a:t>
            </a:r>
            <a:r>
              <a:rPr lang="en-ID" sz="1300" b="0" dirty="0">
                <a:solidFill>
                  <a:srgbClr val="5C6D7A"/>
                </a:solidFill>
                <a:latin typeface="Calibri"/>
                <a:ea typeface="Calibri"/>
                <a:cs typeface="Calibri"/>
              </a:rPr>
              <a:t>.</a:t>
            </a:r>
          </a:p>
        </p:txBody>
      </p:sp>
      <p:sp>
        <p:nvSpPr>
          <p:cNvPr id="20" name="Rounded Rectangle 19"/>
          <p:cNvSpPr/>
          <p:nvPr/>
        </p:nvSpPr>
        <p:spPr>
          <a:xfrm>
            <a:off x="365760" y="3566160"/>
            <a:ext cx="11448288" cy="2606040"/>
          </a:xfrm>
          <a:prstGeom prst="roundRect">
            <a:avLst>
              <a:gd name="adj" fmla="val 8000"/>
            </a:avLst>
          </a:prstGeom>
          <a:solidFill>
            <a:srgbClr val="FFFFFF"/>
          </a:solidFill>
          <a:ln>
            <a:noFill/>
          </a:ln>
          <a:effectLst>
            <a:outerShdw blurRad="63500" dist="25400" dir="2700000" algn="tl" rotWithShape="0">
              <a:srgbClr val="0B2E4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3712463"/>
            <a:ext cx="10972800" cy="310896"/>
          </a:xfrm>
          <a:prstGeom prst="rect">
            <a:avLst/>
          </a:prstGeom>
          <a:noFill/>
        </p:spPr>
        <p:txBody>
          <a:bodyPr wrap="square" lIns="18288" tIns="0" rIns="18288" bIns="0" anchor="t"/>
          <a:lstStyle/>
          <a:p>
            <a:pPr algn="l">
              <a:lnSpc>
                <a:spcPct val="105000"/>
              </a:lnSpc>
              <a:spcBef>
                <a:spcPts val="0"/>
              </a:spcBef>
              <a:spcAft>
                <a:spcPts val="0"/>
              </a:spcAft>
            </a:pPr>
            <a:r>
              <a:rPr sz="1500" b="1" dirty="0" err="1">
                <a:solidFill>
                  <a:srgbClr val="0B2E4A"/>
                </a:solidFill>
                <a:latin typeface="Calibri"/>
                <a:ea typeface="Calibri"/>
                <a:cs typeface="Calibri"/>
              </a:rPr>
              <a:t>Tiga</a:t>
            </a:r>
            <a:r>
              <a:rPr sz="1500" b="1" dirty="0">
                <a:solidFill>
                  <a:srgbClr val="0B2E4A"/>
                </a:solidFill>
                <a:latin typeface="Calibri"/>
                <a:ea typeface="Calibri"/>
                <a:cs typeface="Calibri"/>
              </a:rPr>
              <a:t> </a:t>
            </a:r>
            <a:r>
              <a:rPr sz="1500" b="1" dirty="0" err="1">
                <a:solidFill>
                  <a:srgbClr val="0B2E4A"/>
                </a:solidFill>
                <a:latin typeface="Calibri"/>
                <a:ea typeface="Calibri"/>
                <a:cs typeface="Calibri"/>
              </a:rPr>
              <a:t>pertanyaan</a:t>
            </a:r>
            <a:r>
              <a:rPr sz="1500" b="1" dirty="0">
                <a:solidFill>
                  <a:srgbClr val="0B2E4A"/>
                </a:solidFill>
                <a:latin typeface="Calibri"/>
                <a:ea typeface="Calibri"/>
                <a:cs typeface="Calibri"/>
              </a:rPr>
              <a:t> </a:t>
            </a:r>
            <a:r>
              <a:rPr sz="1500" b="1" dirty="0" err="1">
                <a:solidFill>
                  <a:srgbClr val="0B2E4A"/>
                </a:solidFill>
                <a:latin typeface="Calibri"/>
                <a:ea typeface="Calibri"/>
                <a:cs typeface="Calibri"/>
              </a:rPr>
              <a:t>untuk</a:t>
            </a:r>
            <a:r>
              <a:rPr sz="1500" b="1" dirty="0">
                <a:solidFill>
                  <a:srgbClr val="0B2E4A"/>
                </a:solidFill>
                <a:latin typeface="Calibri"/>
                <a:ea typeface="Calibri"/>
                <a:cs typeface="Calibri"/>
              </a:rPr>
              <a:t> </a:t>
            </a:r>
            <a:r>
              <a:rPr sz="1500" b="1" dirty="0" err="1">
                <a:solidFill>
                  <a:srgbClr val="0B2E4A"/>
                </a:solidFill>
                <a:latin typeface="Calibri"/>
                <a:ea typeface="Calibri"/>
                <a:cs typeface="Calibri"/>
              </a:rPr>
              <a:t>klinik</a:t>
            </a:r>
            <a:endParaRPr sz="1500" b="1" dirty="0">
              <a:solidFill>
                <a:srgbClr val="0B2E4A"/>
              </a:solidFill>
              <a:latin typeface="Calibri"/>
              <a:ea typeface="Calibri"/>
              <a:cs typeface="Calibri"/>
            </a:endParaRPr>
          </a:p>
        </p:txBody>
      </p:sp>
      <p:sp>
        <p:nvSpPr>
          <p:cNvPr id="22" name="Oval 21"/>
          <p:cNvSpPr/>
          <p:nvPr/>
        </p:nvSpPr>
        <p:spPr>
          <a:xfrm>
            <a:off x="566928" y="4187952"/>
            <a:ext cx="329184" cy="329184"/>
          </a:xfrm>
          <a:prstGeom prst="ellipse">
            <a:avLst/>
          </a:prstGeom>
          <a:solidFill>
            <a:srgbClr val="E7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 y="4187952"/>
            <a:ext cx="329184" cy="329184"/>
          </a:xfrm>
          <a:prstGeom prst="rect">
            <a:avLst/>
          </a:prstGeom>
          <a:noFill/>
        </p:spPr>
        <p:txBody>
          <a:bodyPr wrap="square" lIns="18288" tIns="0" rIns="18288" bIns="0" anchor="ctr"/>
          <a:lstStyle/>
          <a:p>
            <a:pPr algn="ctr">
              <a:lnSpc>
                <a:spcPct val="105000"/>
              </a:lnSpc>
              <a:spcBef>
                <a:spcPts val="0"/>
              </a:spcBef>
              <a:spcAft>
                <a:spcPts val="0"/>
              </a:spcAft>
            </a:pPr>
            <a:r>
              <a:rPr sz="1300" b="1">
                <a:solidFill>
                  <a:srgbClr val="0E7C86"/>
                </a:solidFill>
                <a:latin typeface="Calibri"/>
                <a:ea typeface="Calibri"/>
                <a:cs typeface="Calibri"/>
              </a:rPr>
              <a:t>1</a:t>
            </a:r>
          </a:p>
        </p:txBody>
      </p:sp>
      <p:sp>
        <p:nvSpPr>
          <p:cNvPr id="24" name="TextBox 23"/>
          <p:cNvSpPr txBox="1"/>
          <p:nvPr/>
        </p:nvSpPr>
        <p:spPr>
          <a:xfrm>
            <a:off x="566928" y="4645152"/>
            <a:ext cx="3520440" cy="1234440"/>
          </a:xfrm>
          <a:prstGeom prst="rect">
            <a:avLst/>
          </a:prstGeom>
          <a:noFill/>
        </p:spPr>
        <p:txBody>
          <a:bodyPr wrap="square" lIns="18288" tIns="0" rIns="18288" bIns="0" anchor="t"/>
          <a:lstStyle/>
          <a:p>
            <a:pPr algn="l">
              <a:lnSpc>
                <a:spcPct val="108000"/>
              </a:lnSpc>
              <a:spcBef>
                <a:spcPts val="0"/>
              </a:spcBef>
              <a:spcAft>
                <a:spcPts val="0"/>
              </a:spcAft>
            </a:pPr>
            <a:r>
              <a:rPr lang="en-ID" sz="1500" b="0" dirty="0" err="1">
                <a:solidFill>
                  <a:srgbClr val="173042"/>
                </a:solidFill>
                <a:latin typeface="Calibri"/>
                <a:ea typeface="Calibri"/>
                <a:cs typeface="Calibri"/>
              </a:rPr>
              <a:t>Bagaimana</a:t>
            </a:r>
            <a:r>
              <a:rPr lang="en-ID" sz="1500" b="0" dirty="0">
                <a:solidFill>
                  <a:srgbClr val="173042"/>
                </a:solidFill>
                <a:latin typeface="Calibri"/>
                <a:ea typeface="Calibri"/>
                <a:cs typeface="Calibri"/>
              </a:rPr>
              <a:t> proses </a:t>
            </a:r>
            <a:r>
              <a:rPr lang="en-ID" sz="1500" b="0" dirty="0" err="1">
                <a:solidFill>
                  <a:srgbClr val="173042"/>
                </a:solidFill>
                <a:latin typeface="Calibri"/>
                <a:ea typeface="Calibri"/>
                <a:cs typeface="Calibri"/>
              </a:rPr>
              <a:t>pencatatan</a:t>
            </a:r>
            <a:r>
              <a:rPr lang="en-ID" sz="1500" b="0" dirty="0">
                <a:solidFill>
                  <a:srgbClr val="173042"/>
                </a:solidFill>
                <a:latin typeface="Calibri"/>
                <a:ea typeface="Calibri"/>
                <a:cs typeface="Calibri"/>
              </a:rPr>
              <a:t> </a:t>
            </a:r>
            <a:r>
              <a:rPr lang="en-ID" sz="1500" b="0" dirty="0" err="1">
                <a:solidFill>
                  <a:srgbClr val="173042"/>
                </a:solidFill>
                <a:latin typeface="Calibri"/>
                <a:ea typeface="Calibri"/>
                <a:cs typeface="Calibri"/>
              </a:rPr>
              <a:t>stok</a:t>
            </a:r>
            <a:r>
              <a:rPr lang="en-ID" sz="1500" b="0" dirty="0">
                <a:solidFill>
                  <a:srgbClr val="173042"/>
                </a:solidFill>
                <a:latin typeface="Calibri"/>
                <a:ea typeface="Calibri"/>
                <a:cs typeface="Calibri"/>
              </a:rPr>
              <a:t> </a:t>
            </a:r>
            <a:r>
              <a:rPr lang="en-ID" sz="1500" b="0" dirty="0" err="1">
                <a:solidFill>
                  <a:srgbClr val="173042"/>
                </a:solidFill>
                <a:latin typeface="Calibri"/>
                <a:ea typeface="Calibri"/>
                <a:cs typeface="Calibri"/>
              </a:rPr>
              <a:t>obat</a:t>
            </a:r>
            <a:r>
              <a:rPr lang="en-ID" sz="1500" b="0" dirty="0">
                <a:solidFill>
                  <a:srgbClr val="173042"/>
                </a:solidFill>
                <a:latin typeface="Calibri"/>
                <a:ea typeface="Calibri"/>
                <a:cs typeface="Calibri"/>
              </a:rPr>
              <a:t> dan </a:t>
            </a:r>
            <a:r>
              <a:rPr lang="en-ID" sz="1500" b="0" dirty="0" err="1">
                <a:solidFill>
                  <a:srgbClr val="173042"/>
                </a:solidFill>
                <a:latin typeface="Calibri"/>
                <a:ea typeface="Calibri"/>
                <a:cs typeface="Calibri"/>
              </a:rPr>
              <a:t>bahan</a:t>
            </a:r>
            <a:r>
              <a:rPr lang="en-ID" sz="1500" b="0" dirty="0">
                <a:solidFill>
                  <a:srgbClr val="173042"/>
                </a:solidFill>
                <a:latin typeface="Calibri"/>
                <a:ea typeface="Calibri"/>
                <a:cs typeface="Calibri"/>
              </a:rPr>
              <a:t> </a:t>
            </a:r>
            <a:r>
              <a:rPr lang="en-ID" sz="1500" b="0" dirty="0" err="1">
                <a:solidFill>
                  <a:srgbClr val="173042"/>
                </a:solidFill>
                <a:latin typeface="Calibri"/>
                <a:ea typeface="Calibri"/>
                <a:cs typeface="Calibri"/>
              </a:rPr>
              <a:t>medis</a:t>
            </a:r>
            <a:r>
              <a:rPr lang="en-ID" sz="1500" b="0" dirty="0">
                <a:solidFill>
                  <a:srgbClr val="173042"/>
                </a:solidFill>
                <a:latin typeface="Calibri"/>
                <a:ea typeface="Calibri"/>
                <a:cs typeface="Calibri"/>
              </a:rPr>
              <a:t> </a:t>
            </a:r>
            <a:r>
              <a:rPr lang="en-ID" sz="1500" b="0" dirty="0" err="1">
                <a:solidFill>
                  <a:srgbClr val="173042"/>
                </a:solidFill>
                <a:latin typeface="Calibri"/>
                <a:ea typeface="Calibri"/>
                <a:cs typeface="Calibri"/>
              </a:rPr>
              <a:t>saat</a:t>
            </a:r>
            <a:r>
              <a:rPr lang="en-ID" sz="1500" b="0" dirty="0">
                <a:solidFill>
                  <a:srgbClr val="173042"/>
                </a:solidFill>
                <a:latin typeface="Calibri"/>
                <a:ea typeface="Calibri"/>
                <a:cs typeface="Calibri"/>
              </a:rPr>
              <a:t> </a:t>
            </a:r>
            <a:r>
              <a:rPr lang="en-ID" sz="1500" b="0" dirty="0" err="1">
                <a:solidFill>
                  <a:srgbClr val="173042"/>
                </a:solidFill>
                <a:latin typeface="Calibri"/>
                <a:ea typeface="Calibri"/>
                <a:cs typeface="Calibri"/>
              </a:rPr>
              <a:t>ini</a:t>
            </a:r>
            <a:r>
              <a:rPr lang="en-ID" sz="1500" b="0" dirty="0">
                <a:solidFill>
                  <a:srgbClr val="173042"/>
                </a:solidFill>
                <a:latin typeface="Calibri"/>
                <a:ea typeface="Calibri"/>
                <a:cs typeface="Calibri"/>
              </a:rPr>
              <a:t>, </a:t>
            </a:r>
            <a:r>
              <a:rPr lang="en-ID" sz="1500" b="0" dirty="0" err="1">
                <a:solidFill>
                  <a:srgbClr val="173042"/>
                </a:solidFill>
                <a:latin typeface="Calibri"/>
                <a:ea typeface="Calibri"/>
                <a:cs typeface="Calibri"/>
              </a:rPr>
              <a:t>terutama</a:t>
            </a:r>
            <a:r>
              <a:rPr lang="en-ID" sz="1500" b="0" dirty="0">
                <a:solidFill>
                  <a:srgbClr val="173042"/>
                </a:solidFill>
                <a:latin typeface="Calibri"/>
                <a:ea typeface="Calibri"/>
                <a:cs typeface="Calibri"/>
              </a:rPr>
              <a:t> </a:t>
            </a:r>
            <a:r>
              <a:rPr lang="en-ID" sz="1500" b="0" dirty="0" err="1">
                <a:solidFill>
                  <a:srgbClr val="173042"/>
                </a:solidFill>
                <a:latin typeface="Calibri"/>
                <a:ea typeface="Calibri"/>
                <a:cs typeface="Calibri"/>
              </a:rPr>
              <a:t>untuk</a:t>
            </a:r>
            <a:r>
              <a:rPr lang="en-ID" sz="1500" b="0" dirty="0">
                <a:solidFill>
                  <a:srgbClr val="173042"/>
                </a:solidFill>
                <a:latin typeface="Calibri"/>
                <a:ea typeface="Calibri"/>
                <a:cs typeface="Calibri"/>
              </a:rPr>
              <a:t> </a:t>
            </a:r>
            <a:r>
              <a:rPr lang="en-ID" sz="1500" b="0" dirty="0" err="1">
                <a:solidFill>
                  <a:srgbClr val="173042"/>
                </a:solidFill>
                <a:latin typeface="Calibri"/>
                <a:ea typeface="Calibri"/>
                <a:cs typeface="Calibri"/>
              </a:rPr>
              <a:t>mengetahui</a:t>
            </a:r>
            <a:r>
              <a:rPr lang="en-ID" sz="1500" b="0" dirty="0">
                <a:solidFill>
                  <a:srgbClr val="173042"/>
                </a:solidFill>
                <a:latin typeface="Calibri"/>
                <a:ea typeface="Calibri"/>
                <a:cs typeface="Calibri"/>
              </a:rPr>
              <a:t> </a:t>
            </a:r>
            <a:r>
              <a:rPr lang="en-ID" sz="1500" b="0" dirty="0" err="1">
                <a:solidFill>
                  <a:srgbClr val="173042"/>
                </a:solidFill>
                <a:latin typeface="Calibri"/>
                <a:ea typeface="Calibri"/>
                <a:cs typeface="Calibri"/>
              </a:rPr>
              <a:t>pemakaian</a:t>
            </a:r>
            <a:r>
              <a:rPr lang="en-ID" sz="1500" b="0" dirty="0">
                <a:solidFill>
                  <a:srgbClr val="173042"/>
                </a:solidFill>
                <a:latin typeface="Calibri"/>
                <a:ea typeface="Calibri"/>
                <a:cs typeface="Calibri"/>
              </a:rPr>
              <a:t> </a:t>
            </a:r>
            <a:r>
              <a:rPr lang="en-ID" sz="1500" b="0" dirty="0" err="1">
                <a:solidFill>
                  <a:srgbClr val="173042"/>
                </a:solidFill>
                <a:latin typeface="Calibri"/>
                <a:ea typeface="Calibri"/>
                <a:cs typeface="Calibri"/>
              </a:rPr>
              <a:t>setiap</a:t>
            </a:r>
            <a:r>
              <a:rPr lang="en-ID" sz="1500" b="0" dirty="0">
                <a:solidFill>
                  <a:srgbClr val="173042"/>
                </a:solidFill>
                <a:latin typeface="Calibri"/>
                <a:ea typeface="Calibri"/>
                <a:cs typeface="Calibri"/>
              </a:rPr>
              <a:t> </a:t>
            </a:r>
            <a:r>
              <a:rPr lang="en-ID" sz="1500" b="0" dirty="0" err="1">
                <a:solidFill>
                  <a:srgbClr val="173042"/>
                </a:solidFill>
                <a:latin typeface="Calibri"/>
                <a:ea typeface="Calibri"/>
                <a:cs typeface="Calibri"/>
              </a:rPr>
              <a:t>tindakan</a:t>
            </a:r>
            <a:r>
              <a:rPr lang="en-ID" sz="1500" b="0" dirty="0">
                <a:solidFill>
                  <a:srgbClr val="173042"/>
                </a:solidFill>
                <a:latin typeface="Calibri"/>
                <a:ea typeface="Calibri"/>
                <a:cs typeface="Calibri"/>
              </a:rPr>
              <a:t>?</a:t>
            </a:r>
          </a:p>
        </p:txBody>
      </p:sp>
      <p:sp>
        <p:nvSpPr>
          <p:cNvPr id="25" name="Oval 24"/>
          <p:cNvSpPr/>
          <p:nvPr/>
        </p:nvSpPr>
        <p:spPr>
          <a:xfrm>
            <a:off x="4315968" y="4187952"/>
            <a:ext cx="329184" cy="329184"/>
          </a:xfrm>
          <a:prstGeom prst="ellipse">
            <a:avLst/>
          </a:prstGeom>
          <a:solidFill>
            <a:srgbClr val="E7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15968" y="4187952"/>
            <a:ext cx="329184" cy="329184"/>
          </a:xfrm>
          <a:prstGeom prst="rect">
            <a:avLst/>
          </a:prstGeom>
          <a:noFill/>
        </p:spPr>
        <p:txBody>
          <a:bodyPr wrap="square" lIns="18288" tIns="0" rIns="18288" bIns="0" anchor="ctr"/>
          <a:lstStyle/>
          <a:p>
            <a:pPr algn="ctr">
              <a:lnSpc>
                <a:spcPct val="105000"/>
              </a:lnSpc>
              <a:spcBef>
                <a:spcPts val="0"/>
              </a:spcBef>
              <a:spcAft>
                <a:spcPts val="0"/>
              </a:spcAft>
            </a:pPr>
            <a:r>
              <a:rPr sz="1300" b="1">
                <a:solidFill>
                  <a:srgbClr val="0E7C86"/>
                </a:solidFill>
                <a:latin typeface="Calibri"/>
                <a:ea typeface="Calibri"/>
                <a:cs typeface="Calibri"/>
              </a:rPr>
              <a:t>2</a:t>
            </a:r>
          </a:p>
        </p:txBody>
      </p:sp>
      <p:sp>
        <p:nvSpPr>
          <p:cNvPr id="27" name="TextBox 26"/>
          <p:cNvSpPr txBox="1"/>
          <p:nvPr/>
        </p:nvSpPr>
        <p:spPr>
          <a:xfrm>
            <a:off x="4315968" y="4645152"/>
            <a:ext cx="3520440" cy="1234440"/>
          </a:xfrm>
          <a:prstGeom prst="rect">
            <a:avLst/>
          </a:prstGeom>
          <a:noFill/>
        </p:spPr>
        <p:txBody>
          <a:bodyPr wrap="square" lIns="18288" tIns="0" rIns="18288" bIns="0" anchor="t"/>
          <a:lstStyle/>
          <a:p>
            <a:pPr algn="l">
              <a:lnSpc>
                <a:spcPct val="108000"/>
              </a:lnSpc>
              <a:spcBef>
                <a:spcPts val="0"/>
              </a:spcBef>
              <a:spcAft>
                <a:spcPts val="0"/>
              </a:spcAft>
            </a:pPr>
            <a:r>
              <a:rPr lang="en-ID" sz="1500" b="0" dirty="0" err="1">
                <a:solidFill>
                  <a:srgbClr val="173042"/>
                </a:solidFill>
                <a:latin typeface="Calibri"/>
                <a:ea typeface="Calibri"/>
                <a:cs typeface="Calibri"/>
              </a:rPr>
              <a:t>Bagaimana</a:t>
            </a:r>
            <a:r>
              <a:rPr lang="en-ID" sz="1500" b="0" dirty="0">
                <a:solidFill>
                  <a:srgbClr val="173042"/>
                </a:solidFill>
                <a:latin typeface="Calibri"/>
                <a:ea typeface="Calibri"/>
                <a:cs typeface="Calibri"/>
              </a:rPr>
              <a:t> </a:t>
            </a:r>
            <a:r>
              <a:rPr lang="en-ID" sz="1500" b="0" dirty="0" err="1">
                <a:solidFill>
                  <a:srgbClr val="173042"/>
                </a:solidFill>
                <a:latin typeface="Calibri"/>
                <a:ea typeface="Calibri"/>
                <a:cs typeface="Calibri"/>
              </a:rPr>
              <a:t>skema</a:t>
            </a:r>
            <a:r>
              <a:rPr lang="en-ID" sz="1500" b="0" dirty="0">
                <a:solidFill>
                  <a:srgbClr val="173042"/>
                </a:solidFill>
                <a:latin typeface="Calibri"/>
                <a:ea typeface="Calibri"/>
                <a:cs typeface="Calibri"/>
              </a:rPr>
              <a:t> </a:t>
            </a:r>
            <a:r>
              <a:rPr lang="en-ID" sz="1500" b="0" dirty="0" err="1">
                <a:solidFill>
                  <a:srgbClr val="173042"/>
                </a:solidFill>
                <a:latin typeface="Calibri"/>
                <a:ea typeface="Calibri"/>
                <a:cs typeface="Calibri"/>
              </a:rPr>
              <a:t>pembagian</a:t>
            </a:r>
            <a:r>
              <a:rPr lang="en-ID" sz="1500" b="0" dirty="0">
                <a:solidFill>
                  <a:srgbClr val="173042"/>
                </a:solidFill>
                <a:latin typeface="Calibri"/>
                <a:ea typeface="Calibri"/>
                <a:cs typeface="Calibri"/>
              </a:rPr>
              <a:t> fee </a:t>
            </a:r>
            <a:r>
              <a:rPr lang="en-ID" sz="1500" b="0" dirty="0" err="1">
                <a:solidFill>
                  <a:srgbClr val="173042"/>
                </a:solidFill>
                <a:latin typeface="Calibri"/>
                <a:ea typeface="Calibri"/>
                <a:cs typeface="Calibri"/>
              </a:rPr>
              <a:t>dokter</a:t>
            </a:r>
            <a:r>
              <a:rPr lang="en-ID" sz="1500" b="0" dirty="0">
                <a:solidFill>
                  <a:srgbClr val="173042"/>
                </a:solidFill>
                <a:latin typeface="Calibri"/>
                <a:ea typeface="Calibri"/>
                <a:cs typeface="Calibri"/>
              </a:rPr>
              <a:t> yang </a:t>
            </a:r>
            <a:r>
              <a:rPr lang="en-ID" sz="1500" b="0" dirty="0" err="1">
                <a:solidFill>
                  <a:srgbClr val="173042"/>
                </a:solidFill>
                <a:latin typeface="Calibri"/>
                <a:ea typeface="Calibri"/>
                <a:cs typeface="Calibri"/>
              </a:rPr>
              <a:t>diterapkan</a:t>
            </a:r>
            <a:r>
              <a:rPr lang="en-ID" sz="1500" b="0" dirty="0">
                <a:solidFill>
                  <a:srgbClr val="173042"/>
                </a:solidFill>
                <a:latin typeface="Calibri"/>
                <a:ea typeface="Calibri"/>
                <a:cs typeface="Calibri"/>
              </a:rPr>
              <a:t> </a:t>
            </a:r>
            <a:r>
              <a:rPr lang="en-ID" sz="1500" b="0" dirty="0" err="1">
                <a:solidFill>
                  <a:srgbClr val="173042"/>
                </a:solidFill>
                <a:latin typeface="Calibri"/>
                <a:ea typeface="Calibri"/>
                <a:cs typeface="Calibri"/>
              </a:rPr>
              <a:t>saat</a:t>
            </a:r>
            <a:r>
              <a:rPr lang="en-ID" sz="1500" b="0" dirty="0">
                <a:solidFill>
                  <a:srgbClr val="173042"/>
                </a:solidFill>
                <a:latin typeface="Calibri"/>
                <a:ea typeface="Calibri"/>
                <a:cs typeface="Calibri"/>
              </a:rPr>
              <a:t> </a:t>
            </a:r>
            <a:r>
              <a:rPr lang="en-ID" sz="1500" b="0" dirty="0" err="1">
                <a:solidFill>
                  <a:srgbClr val="173042"/>
                </a:solidFill>
                <a:latin typeface="Calibri"/>
                <a:ea typeface="Calibri"/>
                <a:cs typeface="Calibri"/>
              </a:rPr>
              <a:t>ini</a:t>
            </a:r>
            <a:r>
              <a:rPr lang="en-ID" sz="1500" b="0" dirty="0">
                <a:solidFill>
                  <a:srgbClr val="173042"/>
                </a:solidFill>
                <a:latin typeface="Calibri"/>
                <a:ea typeface="Calibri"/>
                <a:cs typeface="Calibri"/>
              </a:rPr>
              <a:t>?</a:t>
            </a:r>
          </a:p>
        </p:txBody>
      </p:sp>
      <p:sp>
        <p:nvSpPr>
          <p:cNvPr id="28" name="Oval 27"/>
          <p:cNvSpPr/>
          <p:nvPr/>
        </p:nvSpPr>
        <p:spPr>
          <a:xfrm>
            <a:off x="8065007" y="4187952"/>
            <a:ext cx="329184" cy="329184"/>
          </a:xfrm>
          <a:prstGeom prst="ellipse">
            <a:avLst/>
          </a:prstGeom>
          <a:solidFill>
            <a:srgbClr val="E7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065007" y="4187952"/>
            <a:ext cx="329184" cy="329184"/>
          </a:xfrm>
          <a:prstGeom prst="rect">
            <a:avLst/>
          </a:prstGeom>
          <a:noFill/>
        </p:spPr>
        <p:txBody>
          <a:bodyPr wrap="square" lIns="18288" tIns="0" rIns="18288" bIns="0" anchor="ctr"/>
          <a:lstStyle/>
          <a:p>
            <a:pPr algn="ctr">
              <a:lnSpc>
                <a:spcPct val="105000"/>
              </a:lnSpc>
              <a:spcBef>
                <a:spcPts val="0"/>
              </a:spcBef>
              <a:spcAft>
                <a:spcPts val="0"/>
              </a:spcAft>
            </a:pPr>
            <a:r>
              <a:rPr sz="1300" b="1">
                <a:solidFill>
                  <a:srgbClr val="0E7C86"/>
                </a:solidFill>
                <a:latin typeface="Calibri"/>
                <a:ea typeface="Calibri"/>
                <a:cs typeface="Calibri"/>
              </a:rPr>
              <a:t>3</a:t>
            </a:r>
          </a:p>
        </p:txBody>
      </p:sp>
      <p:sp>
        <p:nvSpPr>
          <p:cNvPr id="30" name="TextBox 29"/>
          <p:cNvSpPr txBox="1"/>
          <p:nvPr/>
        </p:nvSpPr>
        <p:spPr>
          <a:xfrm>
            <a:off x="8065007" y="4645152"/>
            <a:ext cx="3520440" cy="1234440"/>
          </a:xfrm>
          <a:prstGeom prst="rect">
            <a:avLst/>
          </a:prstGeom>
          <a:noFill/>
        </p:spPr>
        <p:txBody>
          <a:bodyPr wrap="square" lIns="18288" tIns="0" rIns="18288" bIns="0" anchor="t"/>
          <a:lstStyle/>
          <a:p>
            <a:pPr algn="l">
              <a:lnSpc>
                <a:spcPct val="108000"/>
              </a:lnSpc>
              <a:spcBef>
                <a:spcPts val="0"/>
              </a:spcBef>
              <a:spcAft>
                <a:spcPts val="0"/>
              </a:spcAft>
            </a:pPr>
            <a:r>
              <a:rPr lang="en-ID" sz="1500" b="0" dirty="0" err="1">
                <a:solidFill>
                  <a:srgbClr val="173042"/>
                </a:solidFill>
                <a:latin typeface="Calibri"/>
                <a:ea typeface="Calibri"/>
                <a:cs typeface="Calibri"/>
              </a:rPr>
              <a:t>Laporan</a:t>
            </a:r>
            <a:r>
              <a:rPr lang="en-ID" sz="1500" b="0" dirty="0">
                <a:solidFill>
                  <a:srgbClr val="173042"/>
                </a:solidFill>
                <a:latin typeface="Calibri"/>
                <a:ea typeface="Calibri"/>
                <a:cs typeface="Calibri"/>
              </a:rPr>
              <a:t> </a:t>
            </a:r>
            <a:r>
              <a:rPr lang="en-ID" sz="1500" b="0" dirty="0" err="1">
                <a:solidFill>
                  <a:srgbClr val="173042"/>
                </a:solidFill>
                <a:latin typeface="Calibri"/>
                <a:ea typeface="Calibri"/>
                <a:cs typeface="Calibri"/>
              </a:rPr>
              <a:t>keuangan</a:t>
            </a:r>
            <a:r>
              <a:rPr lang="en-ID" sz="1500" b="0" dirty="0">
                <a:solidFill>
                  <a:srgbClr val="173042"/>
                </a:solidFill>
                <a:latin typeface="Calibri"/>
                <a:ea typeface="Calibri"/>
                <a:cs typeface="Calibri"/>
              </a:rPr>
              <a:t> </a:t>
            </a:r>
            <a:r>
              <a:rPr lang="en-ID" sz="1500" b="0" dirty="0" err="1">
                <a:solidFill>
                  <a:srgbClr val="173042"/>
                </a:solidFill>
                <a:latin typeface="Calibri"/>
                <a:ea typeface="Calibri"/>
                <a:cs typeface="Calibri"/>
              </a:rPr>
              <a:t>seperti</a:t>
            </a:r>
            <a:r>
              <a:rPr lang="en-ID" sz="1500" b="0" dirty="0">
                <a:solidFill>
                  <a:srgbClr val="173042"/>
                </a:solidFill>
                <a:latin typeface="Calibri"/>
                <a:ea typeface="Calibri"/>
                <a:cs typeface="Calibri"/>
              </a:rPr>
              <a:t> </a:t>
            </a:r>
            <a:r>
              <a:rPr lang="en-ID" sz="1500" b="0" dirty="0" err="1">
                <a:solidFill>
                  <a:srgbClr val="173042"/>
                </a:solidFill>
                <a:latin typeface="Calibri"/>
                <a:ea typeface="Calibri"/>
                <a:cs typeface="Calibri"/>
              </a:rPr>
              <a:t>apa</a:t>
            </a:r>
            <a:r>
              <a:rPr lang="en-ID" sz="1500" b="0" dirty="0">
                <a:solidFill>
                  <a:srgbClr val="173042"/>
                </a:solidFill>
                <a:latin typeface="Calibri"/>
                <a:ea typeface="Calibri"/>
                <a:cs typeface="Calibri"/>
              </a:rPr>
              <a:t> yang </a:t>
            </a:r>
            <a:r>
              <a:rPr lang="en-ID" sz="1500" b="0" dirty="0" err="1">
                <a:solidFill>
                  <a:srgbClr val="173042"/>
                </a:solidFill>
                <a:latin typeface="Calibri"/>
                <a:ea typeface="Calibri"/>
                <a:cs typeface="Calibri"/>
              </a:rPr>
              <a:t>dibutuhkan</a:t>
            </a:r>
            <a:r>
              <a:rPr lang="en-ID" sz="1500" b="0" dirty="0">
                <a:solidFill>
                  <a:srgbClr val="173042"/>
                </a:solidFill>
                <a:latin typeface="Calibri"/>
                <a:ea typeface="Calibri"/>
                <a:cs typeface="Calibri"/>
              </a:rPr>
              <a:t> owner </a:t>
            </a:r>
            <a:r>
              <a:rPr lang="en-ID" sz="1500" b="0" dirty="0" err="1">
                <a:solidFill>
                  <a:srgbClr val="173042"/>
                </a:solidFill>
                <a:latin typeface="Calibri"/>
                <a:ea typeface="Calibri"/>
                <a:cs typeface="Calibri"/>
              </a:rPr>
              <a:t>untuk</a:t>
            </a:r>
            <a:r>
              <a:rPr lang="en-ID" sz="1500" b="0" dirty="0">
                <a:solidFill>
                  <a:srgbClr val="173042"/>
                </a:solidFill>
                <a:latin typeface="Calibri"/>
                <a:ea typeface="Calibri"/>
                <a:cs typeface="Calibri"/>
              </a:rPr>
              <a:t> </a:t>
            </a:r>
            <a:r>
              <a:rPr lang="en-ID" sz="1500" b="0" dirty="0" err="1">
                <a:solidFill>
                  <a:srgbClr val="173042"/>
                </a:solidFill>
                <a:latin typeface="Calibri"/>
                <a:ea typeface="Calibri"/>
                <a:cs typeface="Calibri"/>
              </a:rPr>
              <a:t>memantau</a:t>
            </a:r>
            <a:r>
              <a:rPr lang="en-ID" sz="1500" b="0" dirty="0">
                <a:solidFill>
                  <a:srgbClr val="173042"/>
                </a:solidFill>
                <a:latin typeface="Calibri"/>
                <a:ea typeface="Calibri"/>
                <a:cs typeface="Calibri"/>
              </a:rPr>
              <a:t> </a:t>
            </a:r>
            <a:r>
              <a:rPr lang="en-ID" sz="1500" b="0" dirty="0" err="1">
                <a:solidFill>
                  <a:srgbClr val="173042"/>
                </a:solidFill>
                <a:latin typeface="Calibri"/>
                <a:ea typeface="Calibri"/>
                <a:cs typeface="Calibri"/>
              </a:rPr>
              <a:t>kondisi</a:t>
            </a:r>
            <a:r>
              <a:rPr lang="en-ID" sz="1500" b="0" dirty="0">
                <a:solidFill>
                  <a:srgbClr val="173042"/>
                </a:solidFill>
                <a:latin typeface="Calibri"/>
                <a:ea typeface="Calibri"/>
                <a:cs typeface="Calibri"/>
              </a:rPr>
              <a:t> </a:t>
            </a:r>
            <a:r>
              <a:rPr lang="en-ID" sz="1500" b="0" dirty="0" err="1">
                <a:solidFill>
                  <a:srgbClr val="173042"/>
                </a:solidFill>
                <a:latin typeface="Calibri"/>
                <a:ea typeface="Calibri"/>
                <a:cs typeface="Calibri"/>
              </a:rPr>
              <a:t>klinik</a:t>
            </a:r>
            <a:r>
              <a:rPr lang="en-ID" sz="1500" b="0" dirty="0">
                <a:solidFill>
                  <a:srgbClr val="173042"/>
                </a:solidFill>
                <a:latin typeface="Calibri"/>
                <a:ea typeface="Calibri"/>
                <a:cs typeface="Calibri"/>
              </a:rPr>
              <a:t>?</a:t>
            </a:r>
            <a:endParaRPr sz="1500" b="0" dirty="0">
              <a:solidFill>
                <a:srgbClr val="173042"/>
              </a:solidFill>
              <a:latin typeface="Calibri"/>
              <a:ea typeface="Calibri"/>
              <a:cs typeface="Calibri"/>
            </a:endParaRPr>
          </a:p>
        </p:txBody>
      </p:sp>
      <p:sp>
        <p:nvSpPr>
          <p:cNvPr id="31" name="Rectangle 30"/>
          <p:cNvSpPr/>
          <p:nvPr/>
        </p:nvSpPr>
        <p:spPr>
          <a:xfrm>
            <a:off x="384048" y="6473952"/>
            <a:ext cx="11430000"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84048" y="6510528"/>
            <a:ext cx="7498079" cy="256032"/>
          </a:xfrm>
          <a:prstGeom prst="rect">
            <a:avLst/>
          </a:prstGeom>
          <a:noFill/>
        </p:spPr>
        <p:txBody>
          <a:bodyPr wrap="square" lIns="18288" tIns="0" rIns="18288" bIns="0" anchor="t"/>
          <a:lstStyle/>
          <a:p>
            <a:pPr algn="l">
              <a:lnSpc>
                <a:spcPct val="105000"/>
              </a:lnSpc>
              <a:spcBef>
                <a:spcPts val="0"/>
              </a:spcBef>
              <a:spcAft>
                <a:spcPts val="0"/>
              </a:spcAft>
            </a:pPr>
            <a:r>
              <a:rPr sz="1100" b="0">
                <a:solidFill>
                  <a:srgbClr val="5C6D7A"/>
                </a:solidFill>
                <a:latin typeface="Calibri"/>
                <a:ea typeface="Calibri"/>
                <a:cs typeface="Calibri"/>
              </a:rPr>
              <a:t>KlinikDent.id   ·   Diskusi kemitraan</a:t>
            </a:r>
          </a:p>
        </p:txBody>
      </p:sp>
      <p:sp>
        <p:nvSpPr>
          <p:cNvPr id="33" name="TextBox 32"/>
          <p:cNvSpPr txBox="1"/>
          <p:nvPr/>
        </p:nvSpPr>
        <p:spPr>
          <a:xfrm>
            <a:off x="9509760" y="6510528"/>
            <a:ext cx="2286000" cy="256032"/>
          </a:xfrm>
          <a:prstGeom prst="rect">
            <a:avLst/>
          </a:prstGeom>
          <a:noFill/>
        </p:spPr>
        <p:txBody>
          <a:bodyPr wrap="square" lIns="18288" tIns="0" rIns="18288" bIns="0" anchor="t"/>
          <a:lstStyle/>
          <a:p>
            <a:pPr algn="r">
              <a:lnSpc>
                <a:spcPct val="105000"/>
              </a:lnSpc>
              <a:spcBef>
                <a:spcPts val="0"/>
              </a:spcBef>
              <a:spcAft>
                <a:spcPts val="0"/>
              </a:spcAft>
            </a:pPr>
            <a:r>
              <a:rPr sz="1100" b="0">
                <a:solidFill>
                  <a:srgbClr val="5C6D7A"/>
                </a:solidFill>
                <a:latin typeface="Calibri"/>
                <a:ea typeface="Calibri"/>
                <a:cs typeface="Calibri"/>
              </a:rPr>
              <a:t>6  /  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61330" y="2525237"/>
            <a:ext cx="11430000" cy="1965960"/>
          </a:xfrm>
          <a:prstGeom prst="roundRect">
            <a:avLst>
              <a:gd name="adj" fmla="val 6000"/>
            </a:avLst>
          </a:prstGeom>
          <a:solidFill>
            <a:srgbClr val="0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7362" y="2863565"/>
            <a:ext cx="10927080" cy="1051560"/>
          </a:xfrm>
          <a:prstGeom prst="rect">
            <a:avLst/>
          </a:prstGeom>
          <a:noFill/>
        </p:spPr>
        <p:txBody>
          <a:bodyPr wrap="square" lIns="18288" tIns="0" rIns="18288" bIns="0" anchor="ctr"/>
          <a:lstStyle/>
          <a:p>
            <a:pPr algn="ctr">
              <a:lnSpc>
                <a:spcPct val="115000"/>
              </a:lnSpc>
              <a:spcBef>
                <a:spcPts val="0"/>
              </a:spcBef>
              <a:spcAft>
                <a:spcPts val="0"/>
              </a:spcAft>
            </a:pPr>
            <a:r>
              <a:rPr lang="en-ID" sz="1600" b="0" dirty="0">
                <a:solidFill>
                  <a:srgbClr val="FFFFFF"/>
                </a:solidFill>
                <a:latin typeface="Calibri"/>
                <a:ea typeface="Calibri"/>
                <a:cs typeface="Calibri"/>
              </a:rPr>
              <a:t>KlinikDent.id </a:t>
            </a:r>
            <a:r>
              <a:rPr lang="en-ID" sz="1600" b="0" dirty="0" err="1">
                <a:solidFill>
                  <a:srgbClr val="FFFFFF"/>
                </a:solidFill>
                <a:latin typeface="Calibri"/>
                <a:ea typeface="Calibri"/>
                <a:cs typeface="Calibri"/>
              </a:rPr>
              <a:t>membuka</a:t>
            </a:r>
            <a:r>
              <a:rPr lang="en-ID" sz="1600" b="0" dirty="0">
                <a:solidFill>
                  <a:srgbClr val="FFFFFF"/>
                </a:solidFill>
                <a:latin typeface="Calibri"/>
                <a:ea typeface="Calibri"/>
                <a:cs typeface="Calibri"/>
              </a:rPr>
              <a:t> </a:t>
            </a:r>
            <a:r>
              <a:rPr lang="en-ID" sz="1600" b="0" dirty="0" err="1">
                <a:solidFill>
                  <a:srgbClr val="FFFFFF"/>
                </a:solidFill>
                <a:latin typeface="Calibri"/>
                <a:ea typeface="Calibri"/>
                <a:cs typeface="Calibri"/>
              </a:rPr>
              <a:t>kerja</a:t>
            </a:r>
            <a:r>
              <a:rPr lang="en-ID" sz="1600" b="0" dirty="0">
                <a:solidFill>
                  <a:srgbClr val="FFFFFF"/>
                </a:solidFill>
                <a:latin typeface="Calibri"/>
                <a:ea typeface="Calibri"/>
                <a:cs typeface="Calibri"/>
              </a:rPr>
              <a:t> </a:t>
            </a:r>
            <a:r>
              <a:rPr lang="en-ID" sz="1600" b="0" dirty="0" err="1">
                <a:solidFill>
                  <a:srgbClr val="FFFFFF"/>
                </a:solidFill>
                <a:latin typeface="Calibri"/>
                <a:ea typeface="Calibri"/>
                <a:cs typeface="Calibri"/>
              </a:rPr>
              <a:t>sama</a:t>
            </a:r>
            <a:r>
              <a:rPr lang="en-ID" sz="1600" b="0" dirty="0">
                <a:solidFill>
                  <a:srgbClr val="FFFFFF"/>
                </a:solidFill>
                <a:latin typeface="Calibri"/>
                <a:ea typeface="Calibri"/>
                <a:cs typeface="Calibri"/>
              </a:rPr>
              <a:t> </a:t>
            </a:r>
            <a:r>
              <a:rPr lang="en-ID" sz="1600" b="0" dirty="0" err="1">
                <a:solidFill>
                  <a:srgbClr val="FFFFFF"/>
                </a:solidFill>
                <a:latin typeface="Calibri"/>
                <a:ea typeface="Calibri"/>
                <a:cs typeface="Calibri"/>
              </a:rPr>
              <a:t>pendampingan</a:t>
            </a:r>
            <a:r>
              <a:rPr lang="en-ID" sz="1600" b="0" dirty="0">
                <a:solidFill>
                  <a:srgbClr val="FFFFFF"/>
                </a:solidFill>
                <a:latin typeface="Calibri"/>
                <a:ea typeface="Calibri"/>
                <a:cs typeface="Calibri"/>
              </a:rPr>
              <a:t> </a:t>
            </a:r>
            <a:r>
              <a:rPr lang="en-ID" sz="1600" b="0" dirty="0" err="1">
                <a:solidFill>
                  <a:srgbClr val="FFFFFF"/>
                </a:solidFill>
                <a:latin typeface="Calibri"/>
                <a:ea typeface="Calibri"/>
                <a:cs typeface="Calibri"/>
              </a:rPr>
              <a:t>untuk</a:t>
            </a:r>
            <a:r>
              <a:rPr lang="en-ID" sz="1600" b="0" dirty="0">
                <a:solidFill>
                  <a:srgbClr val="FFFFFF"/>
                </a:solidFill>
                <a:latin typeface="Calibri"/>
                <a:ea typeface="Calibri"/>
                <a:cs typeface="Calibri"/>
              </a:rPr>
              <a:t> </a:t>
            </a:r>
            <a:r>
              <a:rPr lang="en-ID" sz="1600" b="0" dirty="0" err="1">
                <a:solidFill>
                  <a:srgbClr val="FFFFFF"/>
                </a:solidFill>
                <a:latin typeface="Calibri"/>
                <a:ea typeface="Calibri"/>
                <a:cs typeface="Calibri"/>
              </a:rPr>
              <a:t>menyesuaikan</a:t>
            </a:r>
            <a:r>
              <a:rPr lang="en-ID" sz="1600" b="0" dirty="0">
                <a:solidFill>
                  <a:srgbClr val="FFFFFF"/>
                </a:solidFill>
                <a:latin typeface="Calibri"/>
                <a:ea typeface="Calibri"/>
                <a:cs typeface="Calibri"/>
              </a:rPr>
              <a:t> </a:t>
            </a:r>
            <a:r>
              <a:rPr lang="en-ID" sz="1600" b="0" dirty="0" err="1">
                <a:solidFill>
                  <a:srgbClr val="FFFFFF"/>
                </a:solidFill>
                <a:latin typeface="Calibri"/>
                <a:ea typeface="Calibri"/>
                <a:cs typeface="Calibri"/>
              </a:rPr>
              <a:t>kebutuhan</a:t>
            </a:r>
            <a:r>
              <a:rPr lang="en-ID" sz="1600" b="0" dirty="0">
                <a:solidFill>
                  <a:srgbClr val="FFFFFF"/>
                </a:solidFill>
                <a:latin typeface="Calibri"/>
                <a:ea typeface="Calibri"/>
                <a:cs typeface="Calibri"/>
              </a:rPr>
              <a:t> </a:t>
            </a:r>
            <a:r>
              <a:rPr lang="en-ID" sz="1600" b="0" dirty="0" err="1">
                <a:solidFill>
                  <a:srgbClr val="FFFFFF"/>
                </a:solidFill>
                <a:latin typeface="Calibri"/>
                <a:ea typeface="Calibri"/>
                <a:cs typeface="Calibri"/>
              </a:rPr>
              <a:t>klinik</a:t>
            </a:r>
            <a:r>
              <a:rPr lang="en-ID" sz="1600" b="0" dirty="0">
                <a:solidFill>
                  <a:srgbClr val="FFFFFF"/>
                </a:solidFill>
                <a:latin typeface="Calibri"/>
                <a:ea typeface="Calibri"/>
                <a:cs typeface="Calibri"/>
              </a:rPr>
              <a:t>, </a:t>
            </a:r>
            <a:r>
              <a:rPr lang="en-ID" sz="1600" b="0" dirty="0" err="1">
                <a:solidFill>
                  <a:srgbClr val="FFFFFF"/>
                </a:solidFill>
                <a:latin typeface="Calibri"/>
                <a:ea typeface="Calibri"/>
                <a:cs typeface="Calibri"/>
              </a:rPr>
              <a:t>berdasarkan</a:t>
            </a:r>
            <a:r>
              <a:rPr lang="en-ID" sz="1600" b="0" dirty="0">
                <a:solidFill>
                  <a:srgbClr val="FFFFFF"/>
                </a:solidFill>
                <a:latin typeface="Calibri"/>
                <a:ea typeface="Calibri"/>
                <a:cs typeface="Calibri"/>
              </a:rPr>
              <a:t> </a:t>
            </a:r>
            <a:r>
              <a:rPr lang="en-ID" sz="1600" b="0" dirty="0" err="1">
                <a:solidFill>
                  <a:srgbClr val="FFFFFF"/>
                </a:solidFill>
                <a:latin typeface="Calibri"/>
                <a:ea typeface="Calibri"/>
                <a:cs typeface="Calibri"/>
              </a:rPr>
              <a:t>prioritas</a:t>
            </a:r>
            <a:r>
              <a:rPr lang="en-ID" sz="1600" b="0" dirty="0">
                <a:solidFill>
                  <a:srgbClr val="FFFFFF"/>
                </a:solidFill>
                <a:latin typeface="Calibri"/>
                <a:ea typeface="Calibri"/>
                <a:cs typeface="Calibri"/>
              </a:rPr>
              <a:t> yang </a:t>
            </a:r>
            <a:r>
              <a:rPr lang="en-ID" sz="1600" b="0" dirty="0" err="1">
                <a:solidFill>
                  <a:srgbClr val="FFFFFF"/>
                </a:solidFill>
                <a:latin typeface="Calibri"/>
                <a:ea typeface="Calibri"/>
                <a:cs typeface="Calibri"/>
              </a:rPr>
              <a:t>disepakati</a:t>
            </a:r>
            <a:r>
              <a:rPr lang="en-ID" sz="1600" b="0" dirty="0">
                <a:solidFill>
                  <a:srgbClr val="FFFFFF"/>
                </a:solidFill>
                <a:latin typeface="Calibri"/>
                <a:ea typeface="Calibri"/>
                <a:cs typeface="Calibri"/>
              </a:rPr>
              <a:t> </a:t>
            </a:r>
            <a:r>
              <a:rPr lang="en-ID" sz="1600" b="0" dirty="0" err="1">
                <a:solidFill>
                  <a:srgbClr val="FFFFFF"/>
                </a:solidFill>
                <a:latin typeface="Calibri"/>
                <a:ea typeface="Calibri"/>
                <a:cs typeface="Calibri"/>
              </a:rPr>
              <a:t>bersama</a:t>
            </a:r>
            <a:r>
              <a:rPr lang="en-ID" sz="1600" b="0" dirty="0">
                <a:solidFill>
                  <a:srgbClr val="FFFFFF"/>
                </a:solidFill>
                <a:latin typeface="Calibri"/>
                <a:ea typeface="Calibri"/>
                <a:cs typeface="Calibri"/>
              </a:rPr>
              <a:t>.</a:t>
            </a:r>
            <a:br>
              <a:rPr lang="en-ID" sz="1600" b="0" dirty="0">
                <a:solidFill>
                  <a:srgbClr val="FFFFFF"/>
                </a:solidFill>
                <a:latin typeface="Calibri"/>
                <a:ea typeface="Calibri"/>
                <a:cs typeface="Calibri"/>
              </a:rPr>
            </a:br>
            <a:br>
              <a:rPr lang="en-ID" sz="1600" b="0" dirty="0">
                <a:solidFill>
                  <a:srgbClr val="FFFFFF"/>
                </a:solidFill>
                <a:latin typeface="Calibri"/>
                <a:ea typeface="Calibri"/>
                <a:cs typeface="Calibri"/>
              </a:rPr>
            </a:br>
            <a:r>
              <a:rPr lang="en-ID" sz="2000" b="1" dirty="0">
                <a:solidFill>
                  <a:srgbClr val="FFFFFF"/>
                </a:solidFill>
                <a:latin typeface="Calibri"/>
                <a:ea typeface="Calibri"/>
                <a:cs typeface="Calibri"/>
              </a:rPr>
              <a:t>Mari </a:t>
            </a:r>
            <a:r>
              <a:rPr lang="en-ID" sz="2000" b="1" dirty="0" err="1">
                <a:solidFill>
                  <a:srgbClr val="FFFFFF"/>
                </a:solidFill>
                <a:latin typeface="Calibri"/>
                <a:ea typeface="Calibri"/>
                <a:cs typeface="Calibri"/>
              </a:rPr>
              <a:t>berdiskusi</a:t>
            </a:r>
            <a:r>
              <a:rPr lang="en-ID" sz="2000" b="1" dirty="0">
                <a:solidFill>
                  <a:srgbClr val="FFFFFF"/>
                </a:solidFill>
                <a:latin typeface="Calibri"/>
                <a:ea typeface="Calibri"/>
                <a:cs typeface="Calibri"/>
              </a:rPr>
              <a:t>. </a:t>
            </a:r>
            <a:br>
              <a:rPr lang="en-ID" sz="1600" b="0" dirty="0">
                <a:solidFill>
                  <a:srgbClr val="FFFFFF"/>
                </a:solidFill>
                <a:latin typeface="Calibri"/>
                <a:ea typeface="Calibri"/>
                <a:cs typeface="Calibri"/>
              </a:rPr>
            </a:br>
            <a:r>
              <a:rPr lang="en-ID" sz="1600" b="0" dirty="0">
                <a:solidFill>
                  <a:srgbClr val="FFFFFF"/>
                </a:solidFill>
                <a:latin typeface="Calibri"/>
                <a:ea typeface="Calibri"/>
                <a:cs typeface="Calibri"/>
              </a:rPr>
              <a:t>Jika </a:t>
            </a:r>
            <a:r>
              <a:rPr lang="en-ID" sz="1600" b="0" dirty="0" err="1">
                <a:solidFill>
                  <a:srgbClr val="FFFFFF"/>
                </a:solidFill>
                <a:latin typeface="Calibri"/>
                <a:ea typeface="Calibri"/>
                <a:cs typeface="Calibri"/>
              </a:rPr>
              <a:t>ada</a:t>
            </a:r>
            <a:r>
              <a:rPr lang="en-ID" sz="1600" b="0" dirty="0">
                <a:solidFill>
                  <a:srgbClr val="FFFFFF"/>
                </a:solidFill>
                <a:latin typeface="Calibri"/>
                <a:ea typeface="Calibri"/>
                <a:cs typeface="Calibri"/>
              </a:rPr>
              <a:t> </a:t>
            </a:r>
            <a:r>
              <a:rPr lang="en-ID" sz="1600" b="0" dirty="0" err="1">
                <a:solidFill>
                  <a:srgbClr val="FFFFFF"/>
                </a:solidFill>
                <a:latin typeface="Calibri"/>
                <a:ea typeface="Calibri"/>
                <a:cs typeface="Calibri"/>
              </a:rPr>
              <a:t>pertanyaan</a:t>
            </a:r>
            <a:r>
              <a:rPr lang="en-ID" sz="1600" b="0" dirty="0">
                <a:solidFill>
                  <a:srgbClr val="FFFFFF"/>
                </a:solidFill>
                <a:latin typeface="Calibri"/>
                <a:ea typeface="Calibri"/>
                <a:cs typeface="Calibri"/>
              </a:rPr>
              <a:t> </a:t>
            </a:r>
            <a:r>
              <a:rPr lang="en-ID" sz="1600" b="0" dirty="0" err="1">
                <a:solidFill>
                  <a:srgbClr val="FFFFFF"/>
                </a:solidFill>
                <a:latin typeface="Calibri"/>
                <a:ea typeface="Calibri"/>
                <a:cs typeface="Calibri"/>
              </a:rPr>
              <a:t>atau</a:t>
            </a:r>
            <a:r>
              <a:rPr lang="en-ID" sz="1600" b="0" dirty="0">
                <a:solidFill>
                  <a:srgbClr val="FFFFFF"/>
                </a:solidFill>
                <a:latin typeface="Calibri"/>
                <a:ea typeface="Calibri"/>
                <a:cs typeface="Calibri"/>
              </a:rPr>
              <a:t> </a:t>
            </a:r>
            <a:r>
              <a:rPr lang="en-ID" sz="1600" b="0" dirty="0" err="1">
                <a:solidFill>
                  <a:srgbClr val="FFFFFF"/>
                </a:solidFill>
                <a:latin typeface="Calibri"/>
                <a:ea typeface="Calibri"/>
                <a:cs typeface="Calibri"/>
              </a:rPr>
              <a:t>kebutuhan</a:t>
            </a:r>
            <a:r>
              <a:rPr lang="en-ID" sz="1600" b="0" dirty="0">
                <a:solidFill>
                  <a:srgbClr val="FFFFFF"/>
                </a:solidFill>
                <a:latin typeface="Calibri"/>
                <a:ea typeface="Calibri"/>
                <a:cs typeface="Calibri"/>
              </a:rPr>
              <a:t> yang </a:t>
            </a:r>
            <a:r>
              <a:rPr lang="en-ID" sz="1600" b="0" dirty="0" err="1">
                <a:solidFill>
                  <a:srgbClr val="FFFFFF"/>
                </a:solidFill>
                <a:latin typeface="Calibri"/>
                <a:ea typeface="Calibri"/>
                <a:cs typeface="Calibri"/>
              </a:rPr>
              <a:t>ingin</a:t>
            </a:r>
            <a:r>
              <a:rPr lang="en-ID" sz="1600" b="0" dirty="0">
                <a:solidFill>
                  <a:srgbClr val="FFFFFF"/>
                </a:solidFill>
                <a:latin typeface="Calibri"/>
                <a:ea typeface="Calibri"/>
                <a:cs typeface="Calibri"/>
              </a:rPr>
              <a:t> </a:t>
            </a:r>
            <a:r>
              <a:rPr lang="en-ID" sz="1600" b="0" dirty="0" err="1">
                <a:solidFill>
                  <a:srgbClr val="FFFFFF"/>
                </a:solidFill>
                <a:latin typeface="Calibri"/>
                <a:ea typeface="Calibri"/>
                <a:cs typeface="Calibri"/>
              </a:rPr>
              <a:t>disampaikan</a:t>
            </a:r>
            <a:r>
              <a:rPr lang="en-ID" sz="1600" b="0" dirty="0">
                <a:solidFill>
                  <a:srgbClr val="FFFFFF"/>
                </a:solidFill>
                <a:latin typeface="Calibri"/>
                <a:ea typeface="Calibri"/>
                <a:cs typeface="Calibri"/>
              </a:rPr>
              <a:t>, kami </a:t>
            </a:r>
            <a:r>
              <a:rPr lang="en-ID" sz="1600" b="0" dirty="0" err="1">
                <a:solidFill>
                  <a:srgbClr val="FFFFFF"/>
                </a:solidFill>
                <a:latin typeface="Calibri"/>
                <a:ea typeface="Calibri"/>
                <a:cs typeface="Calibri"/>
              </a:rPr>
              <a:t>siap</a:t>
            </a:r>
            <a:r>
              <a:rPr lang="en-ID" sz="1600" b="0" dirty="0">
                <a:solidFill>
                  <a:srgbClr val="FFFFFF"/>
                </a:solidFill>
                <a:latin typeface="Calibri"/>
                <a:ea typeface="Calibri"/>
                <a:cs typeface="Calibri"/>
              </a:rPr>
              <a:t> </a:t>
            </a:r>
            <a:r>
              <a:rPr lang="en-ID" sz="1600" b="0" dirty="0" err="1">
                <a:solidFill>
                  <a:srgbClr val="FFFFFF"/>
                </a:solidFill>
                <a:latin typeface="Calibri"/>
                <a:ea typeface="Calibri"/>
                <a:cs typeface="Calibri"/>
              </a:rPr>
              <a:t>membahasnya</a:t>
            </a:r>
            <a:r>
              <a:rPr lang="en-ID" sz="1600" b="0" dirty="0">
                <a:solidFill>
                  <a:srgbClr val="FFFFFF"/>
                </a:solidFill>
                <a:latin typeface="Calibri"/>
                <a:ea typeface="Calibri"/>
                <a:cs typeface="Calibri"/>
              </a:rPr>
              <a:t> </a:t>
            </a:r>
            <a:r>
              <a:rPr lang="en-ID" sz="1600" b="0" dirty="0" err="1">
                <a:solidFill>
                  <a:srgbClr val="FFFFFF"/>
                </a:solidFill>
                <a:latin typeface="Calibri"/>
                <a:ea typeface="Calibri"/>
                <a:cs typeface="Calibri"/>
              </a:rPr>
              <a:t>bersama</a:t>
            </a:r>
            <a:r>
              <a:rPr lang="en-ID" sz="1600" b="0" dirty="0">
                <a:solidFill>
                  <a:srgbClr val="FFFFFF"/>
                </a:solidFill>
                <a:latin typeface="Calibri"/>
                <a:ea typeface="Calibri"/>
                <a:cs typeface="Calibri"/>
              </a:rPr>
              <a:t>.</a:t>
            </a:r>
          </a:p>
        </p:txBody>
      </p:sp>
      <p:sp>
        <p:nvSpPr>
          <p:cNvPr id="26" name="TextBox 25"/>
          <p:cNvSpPr txBox="1"/>
          <p:nvPr/>
        </p:nvSpPr>
        <p:spPr>
          <a:xfrm>
            <a:off x="817362" y="3960845"/>
            <a:ext cx="10927080" cy="292608"/>
          </a:xfrm>
          <a:prstGeom prst="rect">
            <a:avLst/>
          </a:prstGeom>
          <a:noFill/>
        </p:spPr>
        <p:txBody>
          <a:bodyPr wrap="square" lIns="18288" tIns="0" rIns="18288" bIns="0" anchor="t"/>
          <a:lstStyle/>
          <a:p>
            <a:pPr algn="ctr">
              <a:lnSpc>
                <a:spcPct val="105000"/>
              </a:lnSpc>
              <a:spcBef>
                <a:spcPts val="0"/>
              </a:spcBef>
              <a:spcAft>
                <a:spcPts val="0"/>
              </a:spcAft>
            </a:pPr>
            <a:endParaRPr sz="1200" b="0" dirty="0">
              <a:solidFill>
                <a:srgbClr val="D6E4EE"/>
              </a:solidFill>
              <a:latin typeface="Calibri"/>
              <a:ea typeface="Calibri"/>
              <a:cs typeface="Calibri"/>
            </a:endParaRPr>
          </a:p>
        </p:txBody>
      </p:sp>
      <p:sp>
        <p:nvSpPr>
          <p:cNvPr id="27" name="Rectangle 26"/>
          <p:cNvSpPr/>
          <p:nvPr/>
        </p:nvSpPr>
        <p:spPr>
          <a:xfrm>
            <a:off x="384048" y="6473952"/>
            <a:ext cx="11430000"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84048" y="6510528"/>
            <a:ext cx="7498079" cy="256032"/>
          </a:xfrm>
          <a:prstGeom prst="rect">
            <a:avLst/>
          </a:prstGeom>
          <a:noFill/>
        </p:spPr>
        <p:txBody>
          <a:bodyPr wrap="square" lIns="18288" tIns="0" rIns="18288" bIns="0" anchor="t"/>
          <a:lstStyle/>
          <a:p>
            <a:pPr algn="l">
              <a:lnSpc>
                <a:spcPct val="105000"/>
              </a:lnSpc>
              <a:spcBef>
                <a:spcPts val="0"/>
              </a:spcBef>
              <a:spcAft>
                <a:spcPts val="0"/>
              </a:spcAft>
            </a:pPr>
            <a:r>
              <a:rPr sz="1100" b="0">
                <a:solidFill>
                  <a:srgbClr val="5C6D7A"/>
                </a:solidFill>
                <a:latin typeface="Calibri"/>
                <a:ea typeface="Calibri"/>
                <a:cs typeface="Calibri"/>
              </a:rPr>
              <a:t>KlinikDent.id   ·   Diskusi kemitraan</a:t>
            </a:r>
          </a:p>
        </p:txBody>
      </p:sp>
      <p:sp>
        <p:nvSpPr>
          <p:cNvPr id="29" name="TextBox 28"/>
          <p:cNvSpPr txBox="1"/>
          <p:nvPr/>
        </p:nvSpPr>
        <p:spPr>
          <a:xfrm>
            <a:off x="9509760" y="6510528"/>
            <a:ext cx="2286000" cy="256032"/>
          </a:xfrm>
          <a:prstGeom prst="rect">
            <a:avLst/>
          </a:prstGeom>
          <a:noFill/>
        </p:spPr>
        <p:txBody>
          <a:bodyPr wrap="square" lIns="18288" tIns="0" rIns="18288" bIns="0" anchor="t"/>
          <a:lstStyle/>
          <a:p>
            <a:pPr algn="r">
              <a:lnSpc>
                <a:spcPct val="105000"/>
              </a:lnSpc>
              <a:spcBef>
                <a:spcPts val="0"/>
              </a:spcBef>
              <a:spcAft>
                <a:spcPts val="0"/>
              </a:spcAft>
            </a:pPr>
            <a:r>
              <a:rPr sz="1100" b="0">
                <a:solidFill>
                  <a:srgbClr val="5C6D7A"/>
                </a:solidFill>
                <a:latin typeface="Calibri"/>
                <a:ea typeface="Calibri"/>
                <a:cs typeface="Calibri"/>
              </a:rPr>
              <a:t>7  /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2450</Words>
  <Application>Microsoft Office PowerPoint</Application>
  <PresentationFormat>Widescreen</PresentationFormat>
  <Paragraphs>197</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KlinikDent.id — Diskusi kemitraan</dc:title>
  <dc:subject>Presentasi kemitraan sistem informasi klinik gigi</dc:subject>
  <dc:creator>Nova</dc:creator>
  <cp:keywords/>
  <dc:description>generated using python-pptx</dc:description>
  <cp:lastModifiedBy>nova ariyanto</cp:lastModifiedBy>
  <cp:revision>4</cp:revision>
  <dcterms:created xsi:type="dcterms:W3CDTF">2013-01-27T09:14:16Z</dcterms:created>
  <dcterms:modified xsi:type="dcterms:W3CDTF">2026-10-12T08:40:47Z</dcterms:modified>
  <cp:category>Presentasi bisnis</cp:category>
</cp:coreProperties>
</file>